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60.jpg" ContentType="image/jpg"/>
  <Override PartName="/ppt/media/image66.jpg" ContentType="image/jpg"/>
  <Override PartName="/ppt/media/image7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6"/>
  </p:notesMasterIdLst>
  <p:sldIdLst>
    <p:sldId id="256" r:id="rId2"/>
    <p:sldId id="257" r:id="rId3"/>
    <p:sldId id="611" r:id="rId67"/>
    <p:sldId id="259" r:id="rId5"/>
    <p:sldId id="260" r:id="rId6"/>
    <p:sldId id="261" r:id="rId11"/>
    <p:sldId id="382" r:id="rId12"/>
    <p:sldId id="612" r:id="rId70"/>
    <p:sldId id="263" r:id="rId14"/>
    <p:sldId id="264" r:id="rId15"/>
    <p:sldId id="265" r:id="rId16"/>
    <p:sldId id="266" r:id="rId17"/>
    <p:sldId id="269" r:id="rId18"/>
    <p:sldId id="270" r:id="rId19"/>
    <p:sldId id="273" r:id="rId22"/>
    <p:sldId id="271" r:id="rId23"/>
    <p:sldId id="272" r:id="rId24"/>
    <p:sldId id="274" r:id="rId25"/>
    <p:sldId id="279" r:id="rId27"/>
    <p:sldId id="586" r:id="rId28"/>
    <p:sldId id="367" r:id="rId29"/>
    <p:sldId id="609" r:id="rId30"/>
    <p:sldId id="610" r:id="rId31"/>
    <p:sldId id="281" r:id="rId33"/>
    <p:sldId id="282" r:id="rId34"/>
    <p:sldId id="572" r:id="rId36"/>
    <p:sldId id="391" r:id="rId45"/>
    <p:sldId id="306" r:id="rId46"/>
    <p:sldId id="307" r:id="rId47"/>
    <p:sldId id="308" r:id="rId49"/>
    <p:sldId id="567" r:id="rId50"/>
    <p:sldId id="574" r:id="rId52"/>
    <p:sldId id="613" r:id="rId71"/>
    <p:sldId id="356" r:id="rId55"/>
    <p:sldId id="284" r:id="rId57"/>
    <p:sldId id="285" r:id="rId58"/>
    <p:sldId id="287" r:id="rId60"/>
    <p:sldId id="577" r:id="rId61"/>
    <p:sldId id="598" r:id="rId62"/>
    <p:sldId id="582" r:id="rId65"/>
    <p:sldId id="592" r:id="rId66"/>
    <p:sldId id="292" r:id="rId68"/>
    <p:sldId id="584" r:id="rId69"/>
    <p:sldId id="298" r:id="rId72"/>
    <p:sldId id="617" r:id="rId63"/>
    <p:sldId id="299" r:id="rId75"/>
    <p:sldId id="583" r:id="rId78"/>
    <p:sldId id="594" r:id="rId79"/>
    <p:sldId id="295" r:id="rId81"/>
    <p:sldId id="585" r:id="rId82"/>
    <p:sldId id="578" r:id="rId83"/>
    <p:sldId id="616" r:id="rId74"/>
    <p:sldId id="600" r:id="rId87"/>
    <p:sldId id="303" r:id="rId88"/>
    <p:sldId id="305" r:id="rId89"/>
    <p:sldId id="296" r:id="rId93"/>
    <p:sldId id="357" r:id="rId94"/>
    <p:sldId id="390" r:id="rId95"/>
    <p:sldId id="302" r:id="rId96"/>
    <p:sldId id="614" r:id="rId64"/>
    <p:sldId id="359" r:id="rId98"/>
    <p:sldId id="360" r:id="rId99"/>
    <p:sldId id="361" r:id="rId100"/>
    <p:sldId id="362" r:id="rId101"/>
    <p:sldId id="615" r:id="rId73"/>
    <p:sldId id="364" r:id="rId103"/>
    <p:sldId id="576" r:id="rId104"/>
    <p:sldId id="365" r:id="rId10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6" Type="http://schemas.openxmlformats.org/officeDocument/2006/relationships/slide" Target="slides/slide26.xml"/><Relationship Id="rId45" Type="http://schemas.openxmlformats.org/officeDocument/2006/relationships/slide" Target="slides/slide27.xml"/><Relationship Id="rId46" Type="http://schemas.openxmlformats.org/officeDocument/2006/relationships/slide" Target="slides/slide28.xml"/><Relationship Id="rId47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2" Type="http://schemas.openxmlformats.org/officeDocument/2006/relationships/slide" Target="slides/slide32.xml"/><Relationship Id="rId55" Type="http://schemas.openxmlformats.org/officeDocument/2006/relationships/slide" Target="slides/slide34.xml"/><Relationship Id="rId57" Type="http://schemas.openxmlformats.org/officeDocument/2006/relationships/slide" Target="slides/slide35.xml"/><Relationship Id="rId58" Type="http://schemas.openxmlformats.org/officeDocument/2006/relationships/slide" Target="slides/slide36.xml"/><Relationship Id="rId60" Type="http://schemas.openxmlformats.org/officeDocument/2006/relationships/slide" Target="slides/slide37.xml"/><Relationship Id="rId61" Type="http://schemas.openxmlformats.org/officeDocument/2006/relationships/slide" Target="slides/slide38.xml"/><Relationship Id="rId62" Type="http://schemas.openxmlformats.org/officeDocument/2006/relationships/slide" Target="slides/slide39.xml"/><Relationship Id="rId63" Type="http://schemas.openxmlformats.org/officeDocument/2006/relationships/slide" Target="slides/slide45.xml"/><Relationship Id="rId64" Type="http://schemas.openxmlformats.org/officeDocument/2006/relationships/slide" Target="slides/slide60.xml"/><Relationship Id="rId65" Type="http://schemas.openxmlformats.org/officeDocument/2006/relationships/slide" Target="slides/slide40.xml"/><Relationship Id="rId66" Type="http://schemas.openxmlformats.org/officeDocument/2006/relationships/slide" Target="slides/slide41.xml"/><Relationship Id="rId67" Type="http://schemas.openxmlformats.org/officeDocument/2006/relationships/slide" Target="slides/slide3.xml"/><Relationship Id="rId68" Type="http://schemas.openxmlformats.org/officeDocument/2006/relationships/slide" Target="slides/slide42.xml"/><Relationship Id="rId69" Type="http://schemas.openxmlformats.org/officeDocument/2006/relationships/slide" Target="slides/slide43.xml"/><Relationship Id="rId70" Type="http://schemas.openxmlformats.org/officeDocument/2006/relationships/slide" Target="slides/slide8.xml"/><Relationship Id="rId71" Type="http://schemas.openxmlformats.org/officeDocument/2006/relationships/slide" Target="slides/slide33.xml"/><Relationship Id="rId72" Type="http://schemas.openxmlformats.org/officeDocument/2006/relationships/slide" Target="slides/slide44.xml"/><Relationship Id="rId73" Type="http://schemas.openxmlformats.org/officeDocument/2006/relationships/slide" Target="slides/slide65.xml"/><Relationship Id="rId74" Type="http://schemas.openxmlformats.org/officeDocument/2006/relationships/slide" Target="slides/slide52.xml"/><Relationship Id="rId75" Type="http://schemas.openxmlformats.org/officeDocument/2006/relationships/slide" Target="slides/slide46.xml"/><Relationship Id="rId78" Type="http://schemas.openxmlformats.org/officeDocument/2006/relationships/slide" Target="slides/slide47.xml"/><Relationship Id="rId79" Type="http://schemas.openxmlformats.org/officeDocument/2006/relationships/slide" Target="slides/slide48.xml"/><Relationship Id="rId81" Type="http://schemas.openxmlformats.org/officeDocument/2006/relationships/slide" Target="slides/slide49.xml"/><Relationship Id="rId82" Type="http://schemas.openxmlformats.org/officeDocument/2006/relationships/slide" Target="slides/slide50.xml"/><Relationship Id="rId83" Type="http://schemas.openxmlformats.org/officeDocument/2006/relationships/slide" Target="slides/slide51.xml"/><Relationship Id="rId87" Type="http://schemas.openxmlformats.org/officeDocument/2006/relationships/slide" Target="slides/slide53.xml"/><Relationship Id="rId88" Type="http://schemas.openxmlformats.org/officeDocument/2006/relationships/slide" Target="slides/slide54.xml"/><Relationship Id="rId89" Type="http://schemas.openxmlformats.org/officeDocument/2006/relationships/slide" Target="slides/slide55.xml"/><Relationship Id="rId93" Type="http://schemas.openxmlformats.org/officeDocument/2006/relationships/slide" Target="slides/slide56.xml"/><Relationship Id="rId94" Type="http://schemas.openxmlformats.org/officeDocument/2006/relationships/slide" Target="slides/slide57.xml"/><Relationship Id="rId95" Type="http://schemas.openxmlformats.org/officeDocument/2006/relationships/slide" Target="slides/slide58.xml"/><Relationship Id="rId96" Type="http://schemas.openxmlformats.org/officeDocument/2006/relationships/slide" Target="slides/slide59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0" Type="http://schemas.openxmlformats.org/officeDocument/2006/relationships/slide" Target="slides/slide63.xml"/><Relationship Id="rId101" Type="http://schemas.openxmlformats.org/officeDocument/2006/relationships/slide" Target="slides/slide64.xml"/><Relationship Id="rId103" Type="http://schemas.openxmlformats.org/officeDocument/2006/relationships/slide" Target="slides/slide66.xml"/><Relationship Id="rId104" Type="http://schemas.openxmlformats.org/officeDocument/2006/relationships/slide" Target="slides/slide67.xml"/><Relationship Id="rId105" Type="http://schemas.openxmlformats.org/officeDocument/2006/relationships/slide" Target="slides/slide68.xml"/><Relationship Id="rId106" Type="http://schemas.openxmlformats.org/officeDocument/2006/relationships/notesMaster" Target="notesMasters/notesMaster1.xml"/><Relationship Id="rId107" Type="http://schemas.openxmlformats.org/officeDocument/2006/relationships/presProps" Target="presProps.xml"/><Relationship Id="rId108" Type="http://schemas.openxmlformats.org/officeDocument/2006/relationships/viewProps" Target="viewProps.xml"/><Relationship Id="rId109" Type="http://schemas.openxmlformats.org/officeDocument/2006/relationships/theme" Target="theme/theme1.xml"/><Relationship Id="rId1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604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326880"/>
            <a:ext cx="91440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326880"/>
            <a:ext cx="91440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7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0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6.jpg"/><Relationship Id="rId4" Type="http://schemas.openxmlformats.org/officeDocument/2006/relationships/image" Target="../media/image7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rid-col"/>
          <p:cNvCxnSpPr/>
          <p:nvPr/>
        </p:nvCxnSpPr>
        <p:spPr>
          <a:xfrm>
            <a:off x="30576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rid-col"/>
          <p:cNvCxnSpPr/>
          <p:nvPr/>
        </p:nvCxnSpPr>
        <p:spPr>
          <a:xfrm>
            <a:off x="141054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rid-col"/>
          <p:cNvCxnSpPr/>
          <p:nvPr/>
        </p:nvCxnSpPr>
        <p:spPr>
          <a:xfrm>
            <a:off x="251532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rid-col"/>
          <p:cNvCxnSpPr/>
          <p:nvPr/>
        </p:nvCxnSpPr>
        <p:spPr>
          <a:xfrm>
            <a:off x="362010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rid-col"/>
          <p:cNvCxnSpPr/>
          <p:nvPr/>
        </p:nvCxnSpPr>
        <p:spPr>
          <a:xfrm>
            <a:off x="472488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rid-col"/>
          <p:cNvCxnSpPr/>
          <p:nvPr/>
        </p:nvCxnSpPr>
        <p:spPr>
          <a:xfrm>
            <a:off x="582966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rid-col"/>
          <p:cNvCxnSpPr/>
          <p:nvPr/>
        </p:nvCxnSpPr>
        <p:spPr>
          <a:xfrm>
            <a:off x="693444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rid-col"/>
          <p:cNvCxnSpPr/>
          <p:nvPr/>
        </p:nvCxnSpPr>
        <p:spPr>
          <a:xfrm>
            <a:off x="803922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rid-col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rid-col"/>
          <p:cNvCxnSpPr/>
          <p:nvPr/>
        </p:nvCxnSpPr>
        <p:spPr>
          <a:xfrm>
            <a:off x="1024878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rid-col"/>
          <p:cNvCxnSpPr/>
          <p:nvPr/>
        </p:nvCxnSpPr>
        <p:spPr>
          <a:xfrm>
            <a:off x="1135356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rid-col"/>
          <p:cNvCxnSpPr/>
          <p:nvPr/>
        </p:nvCxnSpPr>
        <p:spPr>
          <a:xfrm>
            <a:off x="1245834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rid-col"/>
          <p:cNvCxnSpPr/>
          <p:nvPr/>
        </p:nvCxnSpPr>
        <p:spPr>
          <a:xfrm>
            <a:off x="1356312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rid-col"/>
          <p:cNvCxnSpPr/>
          <p:nvPr/>
        </p:nvCxnSpPr>
        <p:spPr>
          <a:xfrm>
            <a:off x="1466790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rid-col"/>
          <p:cNvCxnSpPr/>
          <p:nvPr/>
        </p:nvCxnSpPr>
        <p:spPr>
          <a:xfrm>
            <a:off x="1577268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rid-col"/>
          <p:cNvCxnSpPr/>
          <p:nvPr/>
        </p:nvCxnSpPr>
        <p:spPr>
          <a:xfrm>
            <a:off x="1687746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rid-col"/>
          <p:cNvCxnSpPr/>
          <p:nvPr/>
        </p:nvCxnSpPr>
        <p:spPr>
          <a:xfrm>
            <a:off x="17982240" y="0"/>
            <a:ext cx="0" cy="1028700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ver-block"/>
          <p:cNvSpPr/>
          <p:nvPr/>
        </p:nvSpPr>
        <p:spPr>
          <a:xfrm>
            <a:off x="305760" y="305760"/>
            <a:ext cx="1104780" cy="457200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1410540" y="3000000"/>
            <a:ext cx="11047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" pitchFamily="34" charset="0"/>
                <a:ea typeface="Pretendard Medium" pitchFamily="34" charset="-122"/>
                <a:cs typeface="Pretendard Medium" pitchFamily="34" charset="-120"/>
              </a:rPr>
              <a:t>멀티벤더 하이브리드</a:t>
            </a:r>
            <a:endParaRPr lang="en-US" sz="5400" dirty="0"/>
          </a:p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" pitchFamily="34" charset="0"/>
                <a:ea typeface="Pretendard Medium" pitchFamily="34" charset="-122"/>
                <a:cs typeface="Pretendard Medium" pitchFamily="34" charset="-120"/>
              </a:rPr>
              <a:t>네트워크 구축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410540" y="6000000"/>
            <a:ext cx="1215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D3D3D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4개 사이트 WAN 종합 구축: Cisco, Arista, Aruba</a:t>
            </a:r>
            <a:endParaRPr lang="en-US" sz="2700" dirty="0"/>
          </a:p>
        </p:txBody>
      </p:sp>
      <p:cxnSp>
        <p:nvCxnSpPr>
          <p:cNvPr id="25" name="cover-rule"/>
          <p:cNvCxnSpPr/>
          <p:nvPr/>
        </p:nvCxnSpPr>
        <p:spPr>
          <a:xfrm>
            <a:off x="1410540" y="7600000"/>
            <a:ext cx="154669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ver-meta"/>
          <p:cNvSpPr txBox="1"/>
          <p:nvPr/>
        </p:nvSpPr>
        <p:spPr>
          <a:xfrm>
            <a:off x="1410540" y="7750000"/>
            <a:ext cx="371673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36363"/>
                </a:solidFill>
                <a:latin typeface="Pretendard"/>
              </a:rPr>
              <a:t>대상</a:t>
            </a:r>
          </a:p>
          <a:p>
            <a:r>
              <a:rPr sz="1600">
                <a:solidFill>
                  <a:srgbClr val="1A1A1A"/>
                </a:solidFill>
                <a:latin typeface="Pretendard Medium"/>
              </a:rPr>
              <a:t>4개 사이트 WAN</a:t>
            </a:r>
          </a:p>
        </p:txBody>
      </p:sp>
      <p:sp>
        <p:nvSpPr>
          <p:cNvPr id="27" name="cover-meta"/>
          <p:cNvSpPr txBox="1"/>
          <p:nvPr/>
        </p:nvSpPr>
        <p:spPr>
          <a:xfrm>
            <a:off x="5277270" y="7750000"/>
            <a:ext cx="371673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36363"/>
                </a:solidFill>
                <a:latin typeface="Pretendard"/>
              </a:rPr>
              <a:t>발표자</a:t>
            </a:r>
          </a:p>
          <a:p>
            <a:r>
              <a:rPr sz="1600">
                <a:solidFill>
                  <a:srgbClr val="1A1A1A"/>
                </a:solidFill>
                <a:latin typeface="Pretendard Medium"/>
              </a:rPr>
              <a:t>남기석</a:t>
            </a:r>
          </a:p>
        </p:txBody>
      </p:sp>
      <p:sp>
        <p:nvSpPr>
          <p:cNvPr id="28" name="cover-meta"/>
          <p:cNvSpPr txBox="1"/>
          <p:nvPr/>
        </p:nvSpPr>
        <p:spPr>
          <a:xfrm>
            <a:off x="9144000" y="7750000"/>
            <a:ext cx="371673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36363"/>
                </a:solidFill>
                <a:latin typeface="Pretendard"/>
              </a:rPr>
              <a:t>벤더</a:t>
            </a:r>
          </a:p>
          <a:p>
            <a:r>
              <a:rPr sz="1600">
                <a:solidFill>
                  <a:srgbClr val="1A1A1A"/>
                </a:solidFill>
                <a:latin typeface="Pretendard Medium"/>
              </a:rPr>
              <a:t>Cisco · Arista · Aruba</a:t>
            </a:r>
          </a:p>
        </p:txBody>
      </p:sp>
      <p:sp>
        <p:nvSpPr>
          <p:cNvPr id="29" name="cover-meta"/>
          <p:cNvSpPr txBox="1"/>
          <p:nvPr/>
        </p:nvSpPr>
        <p:spPr>
          <a:xfrm>
            <a:off x="13010730" y="7750000"/>
            <a:ext cx="371673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36363"/>
                </a:solidFill>
                <a:latin typeface="Pretendard"/>
              </a:rPr>
              <a:t>저장소</a:t>
            </a:r>
          </a:p>
          <a:p>
            <a:r>
              <a:rPr sz="1600">
                <a:solidFill>
                  <a:srgbClr val="1A1A1A"/>
                </a:solidFill>
                <a:latin typeface="Pretendard Medium"/>
              </a:rPr>
              <a:t>github.com/ksnam97/network-project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목차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3291840"/>
            <a:ext cx="164592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14400" y="2148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2148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0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규모, 구성, 멀티벤더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4709160"/>
            <a:ext cx="164592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566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설계 판단과 검증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3566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지점, 도입 목적, 검증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6126480"/>
            <a:ext cx="164592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14400" y="4983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49834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벤더별 차이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4983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Cisco, Arista, Aruba 비교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7543800"/>
            <a:ext cx="164592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14400" y="6400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</a:t>
            </a:r>
            <a:endParaRPr lang="en-US" sz="42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6400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트러블슈팅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6400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설계와 달랐던 점과 해결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8961120"/>
            <a:ext cx="164592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914400" y="7818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</a:t>
            </a:r>
            <a:endParaRPr lang="en-US" sz="42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78181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한계와 정리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7818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과제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2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914400" y="29260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38912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프로젝트 개요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66928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규모, 구성, 멀티벤더</a:t>
            </a:r>
            <a:endParaRPr lang="en-US" sz="27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3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4개 사이트의 ISP 이중화와 DMVPN 연결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tat-0"/>
          <p:cNvSpPr/>
          <p:nvPr/>
        </p:nvSpPr>
        <p:spPr>
          <a:xfrm>
            <a:off x="914400" y="2103120"/>
            <a:ext cx="3840480" cy="301752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4개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762756"/>
            <a:ext cx="3200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사이트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HQ, DC, BR1, BR2</a:t>
            </a:r>
            <a:endParaRPr lang="en-US" sz="1800" dirty="0"/>
          </a:p>
        </p:txBody>
      </p:sp>
      <p:sp>
        <p:nvSpPr>
          <p:cNvPr id="7" name="stat-1"/>
          <p:cNvSpPr/>
          <p:nvPr/>
        </p:nvSpPr>
        <p:spPr>
          <a:xfrm>
            <a:off x="5120640" y="2103120"/>
            <a:ext cx="3840480" cy="301752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440680" y="228600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2개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3762756"/>
            <a:ext cx="3200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ISP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ISP-1, ISP-2</a:t>
            </a:r>
            <a:endParaRPr lang="en-US" sz="1800" dirty="0"/>
          </a:p>
        </p:txBody>
      </p:sp>
      <p:sp>
        <p:nvSpPr>
          <p:cNvPr id="10" name="stat-2"/>
          <p:cNvSpPr/>
          <p:nvPr/>
        </p:nvSpPr>
        <p:spPr>
          <a:xfrm>
            <a:off x="9326880" y="2103120"/>
            <a:ext cx="3840480" cy="301752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646920" y="228600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3종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9646920" y="3762756"/>
            <a:ext cx="3200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벤더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Cisco, Arista, Aruba</a:t>
            </a:r>
            <a:endParaRPr lang="en-US" sz="1800" dirty="0"/>
          </a:p>
        </p:txBody>
      </p:sp>
      <p:sp>
        <p:nvSpPr>
          <p:cNvPr id="13" name="stat-3"/>
          <p:cNvSpPr/>
          <p:nvPr/>
        </p:nvSpPr>
        <p:spPr>
          <a:xfrm>
            <a:off x="13533120" y="2103120"/>
            <a:ext cx="3840480" cy="301752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853160" y="228600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2주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13853160" y="3762756"/>
            <a:ext cx="3200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 기간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3.5주 대비 약 43% 단축, 1인 수행</a:t>
            </a:r>
            <a:endParaRPr lang="en-US" sz="1800" dirty="0"/>
          </a:p>
        </p:txBody>
      </p:sp>
      <p:sp>
        <p:nvSpPr>
          <p:cNvPr id="16" name="card-0"/>
          <p:cNvSpPr/>
          <p:nvPr/>
        </p:nvSpPr>
        <p:spPr>
          <a:xfrm>
            <a:off x="914400" y="5486400"/>
            <a:ext cx="16459200" cy="1691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234440" y="566928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기술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6126480"/>
            <a:ext cx="1581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OSPF, iBGP Route Reflector, MPLS L3VPN, 사이트 eBGP, DMVPN Phase 3, VRRP, MSTP, MLAG, QoS, ACL</a:t>
            </a:r>
            <a:endParaRPr lang="en-US" sz="2100" dirty="0"/>
          </a:p>
        </p:txBody>
      </p:sp>
      <p:sp>
        <p:nvSpPr>
          <p:cNvPr id="19" name="card-1"/>
          <p:cNvSpPr/>
          <p:nvPr/>
        </p:nvSpPr>
        <p:spPr>
          <a:xfrm>
            <a:off x="914400" y="7452360"/>
            <a:ext cx="16459200" cy="1691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1234440" y="763524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방식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8092440"/>
            <a:ext cx="1581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 show 명령의 상태 데이터와 Wireshark 패킷 분석으로 설계 기대치와 실측값을 대조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4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01 프로젝트 개요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전체 토폴로지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8900000"/>
            <a:ext cx="14630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636363"/>
                </a:solidFill>
                <a:latin typeface="Pretendard"/>
              </a:rPr>
              <a:t>모델  라우터: Cisco 7200  |  스위치: Cisco IOU(HQ, BR2), Arista vEOS-lab(DC), Aruba AOS-CX(BR1)  |  호스트: Alpine Linux</a:t>
            </a:r>
            <a:endParaRPr lang="en-US" sz="1800" dirty="0"/>
          </a:p>
        </p:txBody>
      </p:sp>
      <p:pic>
        <p:nvPicPr>
          <p:cNvPr id="4" name="Image 0" descr="imgj/topo-desig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5655644" cy="7315200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691640"/>
            <a:ext cx="5655644" cy="7315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ard-0"/>
          <p:cNvSpPr/>
          <p:nvPr/>
        </p:nvSpPr>
        <p:spPr>
          <a:xfrm>
            <a:off x="7301564" y="1691640"/>
            <a:ext cx="10072036" cy="164592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7621604" y="1874520"/>
            <a:ext cx="9431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621604" y="2331720"/>
            <a:ext cx="94319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Arista L3 스위치 4대, L2 스위치 2대, 서버 2대, DMVPN Hub</a:t>
            </a:r>
            <a:endParaRPr lang="en-US" sz="2100" dirty="0"/>
          </a:p>
        </p:txBody>
      </p:sp>
      <p:sp>
        <p:nvSpPr>
          <p:cNvPr id="9" name="card-1"/>
          <p:cNvSpPr/>
          <p:nvPr/>
        </p:nvSpPr>
        <p:spPr>
          <a:xfrm>
            <a:off x="7301564" y="3520440"/>
            <a:ext cx="10072036" cy="164592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7621604" y="3703320"/>
            <a:ext cx="9431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HQ, BR1, BR2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621604" y="4160520"/>
            <a:ext cx="94319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라우터 2대, L3 스위치 2대, 호스트용 스위치 1대, DMVPN Spoke</a:t>
            </a:r>
            <a:endParaRPr lang="en-US" sz="2100" dirty="0"/>
          </a:p>
        </p:txBody>
      </p:sp>
      <p:sp>
        <p:nvSpPr>
          <p:cNvPr id="12" name="card-2"/>
          <p:cNvSpPr/>
          <p:nvPr/>
        </p:nvSpPr>
        <p:spPr>
          <a:xfrm>
            <a:off x="7301564" y="5349240"/>
            <a:ext cx="10072036" cy="164592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7621604" y="5532120"/>
            <a:ext cx="9431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ISP-1, ISP-2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621604" y="5989320"/>
            <a:ext cx="94319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PE-A, P1, P2, PE-B 각 4대, MPLS L3VPN</a:t>
            </a:r>
            <a:endParaRPr lang="en-US" sz="2100" dirty="0"/>
          </a:p>
        </p:txBody>
      </p:sp>
      <p:sp>
        <p:nvSpPr>
          <p:cNvPr id="15" name="card-3"/>
          <p:cNvSpPr/>
          <p:nvPr/>
        </p:nvSpPr>
        <p:spPr>
          <a:xfrm>
            <a:off x="7301564" y="7178040"/>
            <a:ext cx="10072036" cy="164592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7621604" y="7360920"/>
            <a:ext cx="9431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Private Internet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621604" y="7818120"/>
            <a:ext cx="94319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DMVPN 언더레이, ACL 화이트리스트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5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01 프로젝트 개요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벤더 혼합 구성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170000"/>
            <a:ext cx="146304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636363"/>
                </a:solidFill>
                <a:latin typeface="Pretendard"/>
              </a:rPr>
              <a:t>모델  Cisco 7200 라우터, Cisco IOU 스위치  |  Arista vEOS-lab 4.29.2F  |  Aruba AOS-CX 가상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16459200" cy="4206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벤더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장비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사이트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역할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Cisco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7200 라우터, IOU 스위치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HQ, BR2, ISP, 사이트 라우터 전부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라우팅, QoS, ACL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Arista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vEOS-lab 4.29.2F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 스위치 6대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L3, L2, MLAG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Aruba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AOS-CX 가상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BR1 스위치 3대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L3, VRRP, LAG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rd-0"/>
          <p:cNvSpPr/>
          <p:nvPr/>
        </p:nvSpPr>
        <p:spPr>
          <a:xfrm>
            <a:off x="914400" y="6400800"/>
            <a:ext cx="16459200" cy="128016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1234440" y="658368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배경</a:t>
            </a:r>
            <a:endParaRPr lang="en-US" sz="1800" dirty="0"/>
          </a:p>
        </p:txBody>
      </p:sp>
      <p:sp>
        <p:nvSpPr>
          <p:cNvPr id="4" name="Text 4"/>
          <p:cNvSpPr txBox="1"/>
          <p:nvPr/>
        </p:nvSpPr>
        <p:spPr>
          <a:xfrm>
            <a:off x="1234440" y="7040880"/>
            <a:ext cx="1581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벤더 의존에서 벗어나, 상황별 멀티벤더 혼합 환경의 상호 호환성 검증과 운영 경험 확보를 목적으로 3종 구성</a:t>
            </a:r>
            <a:endParaRPr lang="en-US" sz="2100" dirty="0"/>
          </a:p>
        </p:txBody>
      </p:sp>
      <p:sp>
        <p:nvSpPr>
          <p:cNvPr id="8" name="card-1"/>
          <p:cNvSpPr/>
          <p:nvPr/>
        </p:nvSpPr>
        <p:spPr>
          <a:xfrm>
            <a:off x="914400" y="7863840"/>
            <a:ext cx="16459200" cy="128016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1234440" y="804672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변경 요인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8503920"/>
            <a:ext cx="1581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 스위치를 cEOS로 설계했으나 실제 이미지는 vEOS-lab, 인터페이스 ACL 미지원으로 ACL 적용 위치를 DC 라우터로 변경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10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01 프로젝트 개요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기술 스택 및 도입 목적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16459200" cy="6400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기술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적용 위치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기술별 선정 근거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OSPF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사이트 내부, ISP 연결 라우터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OSPF 메트릭 차등(100/200)으로 주/부 경로 구분, 장애 시 자동 전환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BGP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사이트 엣지 eBGP, ISP iBGP Route Reflector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route-map, prefix-list 기반 경로 제어, Route Reflector로 ISP 내부 확장성 확보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MPLS L3VPN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ISP-1, ISP-2 코어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LDP 레이블과 VRF로 사이트 /16 prefix를 ISP 코어에서 격리 전달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DMVPN Phase 3, IPsec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 Hub 1대, Spoke 3대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Hub-Spoke 설정 효율, NHRP shortcut으로 Spoke 간 직접 통신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VRRP, MSTP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 VLAN 게이트웨이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VRRP Active와 MSTP 루트를 같은 스위치로 일치시켜 L2 우회 경로 방지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MLAG, EtherChannel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 L2 업링크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MSTP 차단 포트 없이 업링크 2개를 모두 사용(Active-Active)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DHCP, DNS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 VLAN 게이트웨이 2대, DC-DNS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서브넷 풀을 게이트웨이 2대가 분담해 중복 할당 방지, 1대 장애 시에도 임대 지속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QoS, ACL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 사이트, Private Internet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트래픽 우선순위 부여, 화이트리스트 기반 접근 통제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Cisco, Arista, Aruba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HQ·BR2·ISP / DC / BR1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멀티벤더 혼합 환경의 상호 호환성 검증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11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01 프로젝트 개요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914400" y="29260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38912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설계 판단과 검증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66928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지점, 도입 목적, 검증</a:t>
            </a:r>
            <a:endParaRPr lang="en-US" sz="27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12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ISP-1 장애 지점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Image 0" descr="imgj/c-is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6454257" cy="6766560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828800"/>
            <a:ext cx="6454257" cy="67665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card-0"/>
          <p:cNvSpPr/>
          <p:nvPr/>
        </p:nvSpPr>
        <p:spPr>
          <a:xfrm>
            <a:off x="8283057" y="1828800"/>
            <a:ext cx="9090543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8603097" y="2011680"/>
            <a:ext cx="84504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대상 인터페이스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603097" y="2468880"/>
            <a:ext cx="845046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HQ-R1 g3/0과 ISP-1-PE-A 사이 링크(링크 6)</a:t>
            </a:r>
            <a:endParaRPr lang="en-US" sz="2100" dirty="0"/>
          </a:p>
        </p:txBody>
      </p:sp>
      <p:sp>
        <p:nvSpPr>
          <p:cNvPr id="12" name="card-1"/>
          <p:cNvSpPr/>
          <p:nvPr/>
        </p:nvSpPr>
        <p:spPr>
          <a:xfrm>
            <a:off x="8283057" y="4175760"/>
            <a:ext cx="9090543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8603097" y="4358640"/>
            <a:ext cx="84504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장애 재현 절차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603097" y="4815840"/>
            <a:ext cx="845046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ISP-1 PE 쪽 인터페이스 shutdown, 사이트 라우터 쪽은 up 유지</a:t>
            </a:r>
            <a:endParaRPr lang="en-US" sz="2100" dirty="0"/>
          </a:p>
        </p:txBody>
      </p:sp>
      <p:sp>
        <p:nvSpPr>
          <p:cNvPr id="15" name="card-2"/>
          <p:cNvSpPr/>
          <p:nvPr/>
        </p:nvSpPr>
        <p:spPr>
          <a:xfrm>
            <a:off x="8283057" y="6522720"/>
            <a:ext cx="9090543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8603097" y="6705600"/>
            <a:ext cx="84504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모니터링 항목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03097" y="7162800"/>
            <a:ext cx="845046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BGP 세션 단절 감지, 기본 경로 전환, 사이트 간 통신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13</a:t>
            </a:fld>
            <a:endParaRPr lang="en-US" sz="1000"/>
          </a:p>
        </p:txBody>
      </p:sp>
      <p:grpSp>
        <p:nvGrpSpPr>
          <p:cNvPr id="18" name="set-1"/>
          <p:cNvGrpSpPr/>
          <p:nvPr/>
        </p:nvGrpSpPr>
        <p:grpSpPr>
          <a:xfrm>
            <a:off x="2371813" y="2848989"/>
            <a:ext cx="3466561" cy="4653311"/>
            <a:chOff x="2371813" y="2848989"/>
            <a:chExt cx="3466561" cy="4653311"/>
          </a:xfrm>
        </p:grpSpPr>
        <p:sp>
          <p:nvSpPr>
            <p:cNvPr id="7" name="tag-1"/>
            <p:cNvSpPr/>
            <p:nvPr/>
          </p:nvSpPr>
          <p:spPr>
            <a:xfrm>
              <a:off x="4324549" y="4608717"/>
              <a:ext cx="384048" cy="384048"/>
            </a:xfrm>
            <a:prstGeom prst="roundRect">
              <a:avLst>
                <a:gd name="adj" fmla="val 9524"/>
              </a:avLst>
            </a:prstGeom>
            <a:solidFill>
              <a:srgbClr val="B3262B"/>
            </a:solidFill>
            <a:ln w="6350">
              <a:solidFill>
                <a:srgbClr val="B3262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agtext-1"/>
            <p:cNvSpPr txBox="1"/>
            <p:nvPr/>
          </p:nvSpPr>
          <p:spPr>
            <a:xfrm>
              <a:off x="4324549" y="4608717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FFFFFF"/>
                  </a:solidFill>
                  <a:latin typeface="Pretendard Medium" pitchFamily="34" charset="0"/>
                  <a:ea typeface="Pretendard Medium" pitchFamily="34" charset="-122"/>
                  <a:cs typeface="Pretendard Medium" pitchFamily="34" charset="-120"/>
                </a:rPr>
                <a:t>1</a:t>
              </a:r>
              <a:endParaRPr lang="en-US" sz="1800" dirty="0"/>
            </a:p>
          </p:txBody>
        </p:sp>
        <p:sp>
          <p:nvSpPr>
            <p:cNvPr id="6" name="link-1"/>
            <p:cNvSpPr/>
            <p:nvPr/>
          </p:nvSpPr>
          <p:spPr>
            <a:xfrm flipV="1">
              <a:off x="2371813" y="2848989"/>
              <a:ext cx="3466561" cy="4653311"/>
            </a:xfrm>
            <a:prstGeom prst="line">
              <a:avLst/>
            </a:prstGeom>
            <a:noFill/>
            <a:ln w="50800">
              <a:solidFill>
                <a:srgbClr val="B3262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</p:grp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ISP 이중화 (BGP · OSPF)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ISP 이중화: OSPF metric 100/200으로 주/부 경로 고정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914400" y="2103120"/>
            <a:ext cx="7863840" cy="20574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234440" y="23317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경로 이중화 토폴로지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83464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ISP-1(Primary), ISP-2(Backup)로 지정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914400" y="4434840"/>
            <a:ext cx="7863840" cy="20574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234440" y="4663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설계 근거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516636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DNS 이중화와 같은 메인/백업 구조로 ISP 구간의 단일 장애점 제거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914400" y="6766560"/>
            <a:ext cx="7863840" cy="20574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234440" y="69951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트래픽 제어 방식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749808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OSPF 기본 경로 metric 100(ISP-1), 200(ISP-2)으로 주/부 경로 고정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 flipV="1">
            <a:off x="11887200" y="3291840"/>
            <a:ext cx="2377440" cy="1828800"/>
          </a:xfrm>
          <a:prstGeom prst="line">
            <a:avLst/>
          </a:prstGeom>
          <a:noFill/>
          <a:ln w="38100">
            <a:solidFill>
              <a:srgbClr val="024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1887200" y="5120640"/>
            <a:ext cx="2377440" cy="1828800"/>
          </a:xfrm>
          <a:prstGeom prst="line">
            <a:avLst/>
          </a:prstGeom>
          <a:noFill/>
          <a:ln w="38100">
            <a:solidFill>
              <a:srgbClr val="C2C2C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" name="node-site"/>
          <p:cNvSpPr/>
          <p:nvPr/>
        </p:nvSpPr>
        <p:spPr>
          <a:xfrm>
            <a:off x="9509760" y="4297680"/>
            <a:ext cx="2377440" cy="164592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509760" y="4297680"/>
            <a:ext cx="2377440" cy="1645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사이트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HQ, DC, BR1, BR2</a:t>
            </a:r>
            <a:endParaRPr lang="en-US" sz="1800" dirty="0"/>
          </a:p>
        </p:txBody>
      </p:sp>
      <p:sp>
        <p:nvSpPr>
          <p:cNvPr id="17" name="node-isp1"/>
          <p:cNvSpPr/>
          <p:nvPr/>
        </p:nvSpPr>
        <p:spPr>
          <a:xfrm>
            <a:off x="14264640" y="2286000"/>
            <a:ext cx="310896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24A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426464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177800" tIns="177800" rIns="177800" bIns="17780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ISP-1 (메인)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metric 100</a:t>
            </a:r>
            <a:endParaRPr lang="en-US" sz="2100" dirty="0"/>
          </a:p>
        </p:txBody>
      </p:sp>
      <p:sp>
        <p:nvSpPr>
          <p:cNvPr id="19" name="node-isp2"/>
          <p:cNvSpPr/>
          <p:nvPr/>
        </p:nvSpPr>
        <p:spPr>
          <a:xfrm>
            <a:off x="14264640" y="5943600"/>
            <a:ext cx="3108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14264640" y="5943600"/>
            <a:ext cx="3108960" cy="2011680"/>
          </a:xfrm>
          <a:prstGeom prst="rect">
            <a:avLst/>
          </a:prstGeom>
          <a:noFill/>
          <a:ln/>
        </p:spPr>
        <p:txBody>
          <a:bodyPr wrap="square" lIns="177800" tIns="177800" rIns="177800" bIns="17780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ISP-2 (백업)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metric 200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14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ISP 이중화 (BGP · OSPF)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ISP-1 단절 시 ISP-2 전환 원리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tat-0"/>
          <p:cNvSpPr/>
          <p:nvPr/>
        </p:nvSpPr>
        <p:spPr>
          <a:xfrm>
            <a:off x="914400" y="2103120"/>
            <a:ext cx="5242560" cy="2834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460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662172"/>
            <a:ext cx="4602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ISP-1 연결 라우터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OSPF 기본 경로 metric</a:t>
            </a:r>
            <a:endParaRPr lang="en-US" sz="1800" dirty="0"/>
          </a:p>
        </p:txBody>
      </p:sp>
      <p:sp>
        <p:nvSpPr>
          <p:cNvPr id="7" name="stat-1"/>
          <p:cNvSpPr/>
          <p:nvPr/>
        </p:nvSpPr>
        <p:spPr>
          <a:xfrm>
            <a:off x="6522720" y="2103120"/>
            <a:ext cx="5242560" cy="2834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842760" y="2286000"/>
            <a:ext cx="460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200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842760" y="3662172"/>
            <a:ext cx="4602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ISP-2 연결 라우터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OSPF 기본 경로 metric</a:t>
            </a:r>
            <a:endParaRPr lang="en-US" sz="1800" dirty="0"/>
          </a:p>
        </p:txBody>
      </p:sp>
      <p:sp>
        <p:nvSpPr>
          <p:cNvPr id="10" name="stat-2"/>
          <p:cNvSpPr/>
          <p:nvPr/>
        </p:nvSpPr>
        <p:spPr>
          <a:xfrm>
            <a:off x="12131040" y="2103120"/>
            <a:ext cx="5242560" cy="2834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2451080" y="2286000"/>
            <a:ext cx="460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9초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12451080" y="3662172"/>
            <a:ext cx="4602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BGP hold-time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단절 감지 기준</a:t>
            </a:r>
            <a:endParaRPr lang="en-US" sz="1800" dirty="0"/>
          </a:p>
        </p:txBody>
      </p:sp>
      <p:sp>
        <p:nvSpPr>
          <p:cNvPr id="13" name="step-0"/>
          <p:cNvSpPr/>
          <p:nvPr/>
        </p:nvSpPr>
        <p:spPr>
          <a:xfrm>
            <a:off x="914400" y="5486400"/>
            <a:ext cx="5120640" cy="32004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280160" y="5715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65836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hold-time 9초 경과 후 ISP-1 세션 단절 감지</a:t>
            </a:r>
            <a:endParaRPr lang="en-US" sz="2100" dirty="0"/>
          </a:p>
        </p:txBody>
      </p:sp>
      <p:sp>
        <p:nvSpPr>
          <p:cNvPr id="16" name="step-1"/>
          <p:cNvSpPr/>
          <p:nvPr/>
        </p:nvSpPr>
        <p:spPr>
          <a:xfrm>
            <a:off x="6583680" y="5486400"/>
            <a:ext cx="5120640" cy="32004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0" y="5715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65836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BGP 기본 경로 철회</a:t>
            </a:r>
            <a:endParaRPr lang="en-US" sz="2100" dirty="0"/>
          </a:p>
        </p:txBody>
      </p:sp>
      <p:sp>
        <p:nvSpPr>
          <p:cNvPr id="19" name="step-2"/>
          <p:cNvSpPr/>
          <p:nvPr/>
        </p:nvSpPr>
        <p:spPr>
          <a:xfrm>
            <a:off x="12252960" y="5486400"/>
            <a:ext cx="5120640" cy="32004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12618720" y="5715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0" y="65836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OSPF 외부 경로(metric 201)로 ISP-2 쪽 기본 경로 사용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15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ISP 이중화 (BGP · OSPF)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검증: hold-time 9초 경과 후 세션 종료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Image 0" descr="imgj/z-isp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15910560" cy="1591056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920240"/>
            <a:ext cx="15910560" cy="1591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14400" y="3648456"/>
            <a:ext cx="1591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확대: Wireshark 필터 bgp(HQ-R1 Gi3/0 ↔ ISP-1-PE-A Gi2/0), Time 열의 두 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16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ISP 이중화 (BGP · OSPF)</a:t>
            </a:r>
          </a:p>
        </p:txBody>
      </p:sp>
      <p:sp>
        <p:nvSpPr>
          <p:cNvPr id="29" name="hl-box-1"/>
          <p:cNvSpPr/>
          <p:nvPr/>
        </p:nvSpPr>
        <p:spPr>
          <a:xfrm>
            <a:off x="914400" y="2214275"/>
            <a:ext cx="15587662" cy="214887"/>
          </a:xfrm>
          <a:prstGeom prst="rect">
            <a:avLst/>
          </a:prstGeom>
          <a:solidFill>
            <a:srgbClr val="424A61">
              <a:alpha val="55000"/>
            </a:srgbClr>
          </a:solidFill>
          <a:ln w="28575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l-box-2"/>
          <p:cNvSpPr/>
          <p:nvPr/>
        </p:nvSpPr>
        <p:spPr>
          <a:xfrm>
            <a:off x="914400" y="2471450"/>
            <a:ext cx="15587662" cy="686375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l-box-3"/>
          <p:cNvSpPr/>
          <p:nvPr/>
        </p:nvSpPr>
        <p:spPr>
          <a:xfrm>
            <a:off x="914400" y="3200112"/>
            <a:ext cx="15587662" cy="214887"/>
          </a:xfrm>
          <a:prstGeom prst="rect">
            <a:avLst/>
          </a:prstGeom>
          <a:solidFill>
            <a:srgbClr val="F7F7F7">
              <a:alpha val="40000"/>
            </a:srgbClr>
          </a:solidFill>
          <a:ln w="28575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l-tag-1"/>
          <p:cNvSpPr/>
          <p:nvPr/>
        </p:nvSpPr>
        <p:spPr>
          <a:xfrm>
            <a:off x="614400" y="2200275"/>
            <a:ext cx="260000" cy="26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hl-tag-2"/>
          <p:cNvSpPr/>
          <p:nvPr/>
        </p:nvSpPr>
        <p:spPr>
          <a:xfrm>
            <a:off x="614400" y="2684637"/>
            <a:ext cx="260000" cy="26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hl-tag-3"/>
          <p:cNvSpPr/>
          <p:nvPr/>
        </p:nvSpPr>
        <p:spPr>
          <a:xfrm>
            <a:off x="614400" y="3186112"/>
            <a:ext cx="260000" cy="26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card-0"/>
          <p:cNvSpPr/>
          <p:nvPr/>
        </p:nvSpPr>
        <p:spPr>
          <a:xfrm>
            <a:off x="914400" y="4309936"/>
            <a:ext cx="4002300" cy="15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114400" y="4399936"/>
            <a:ext cx="36023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PE-A의 마지막 Keepalive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14400" y="4759936"/>
            <a:ext cx="36023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464.93초</a:t>
            </a:r>
            <a:endParaRPr lang="en-US" sz="2100" dirty="0"/>
          </a:p>
        </p:txBody>
      </p:sp>
      <p:sp>
        <p:nvSpPr>
          <p:cNvPr id="13" name="card-0"/>
          <p:cNvSpPr/>
          <p:nvPr/>
        </p:nvSpPr>
        <p:spPr>
          <a:xfrm>
            <a:off x="5066700" y="4309936"/>
            <a:ext cx="4002300" cy="15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5266700" y="4399936"/>
            <a:ext cx="36023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HQ-R1 Keepalive 3초 간격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266700" y="4759936"/>
            <a:ext cx="36023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465.40초, 468.49초, 471.55초</a:t>
            </a:r>
            <a:endParaRPr lang="en-US" sz="2100" dirty="0"/>
          </a:p>
        </p:txBody>
      </p:sp>
      <p:sp>
        <p:nvSpPr>
          <p:cNvPr id="13" name="card-0"/>
          <p:cNvSpPr/>
          <p:nvPr/>
        </p:nvSpPr>
        <p:spPr>
          <a:xfrm>
            <a:off x="9219000" y="4309936"/>
            <a:ext cx="4002300" cy="15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9419000" y="4399936"/>
            <a:ext cx="36023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HQ-R1의 NOTIFICATION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419000" y="4759936"/>
            <a:ext cx="36023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474.61초(75바이트)</a:t>
            </a:r>
            <a:endParaRPr lang="en-US" sz="2100" dirty="0"/>
          </a:p>
        </p:txBody>
      </p:sp>
      <p:sp>
        <p:nvSpPr>
          <p:cNvPr id="13" name="card-0"/>
          <p:cNvSpPr/>
          <p:nvPr/>
        </p:nvSpPr>
        <p:spPr>
          <a:xfrm>
            <a:off x="13371300" y="4309936"/>
            <a:ext cx="4002300" cy="15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3571300" y="4399936"/>
            <a:ext cx="36023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결과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571300" y="4759936"/>
            <a:ext cx="36023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9.7초, 설계 값 9초와 일치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검증: BGP 기본 경로의 OSPF 경로 전환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전, HQ-R1 show ip route 0.0.0.0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509760" y="1965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중, HQ-R1 show ip route 0.0.0.0</a:t>
            </a:r>
            <a:endParaRPr lang="en-US" sz="1800" dirty="0"/>
          </a:p>
        </p:txBody>
      </p:sp>
      <p:pic>
        <p:nvPicPr>
          <p:cNvPr id="6" name="Image 0" descr="imgj/isp1-hq-r1-route-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8880"/>
            <a:ext cx="7863840" cy="1586748"/>
          </a:xfrm>
          <a:prstGeom prst="rect">
            <a:avLst/>
          </a:prstGeom>
        </p:spPr>
      </p:pic>
      <p:sp>
        <p:nvSpPr>
          <p:cNvPr id="7" name="image-frame"/>
          <p:cNvSpPr/>
          <p:nvPr/>
        </p:nvSpPr>
        <p:spPr>
          <a:xfrm>
            <a:off x="914400" y="2468880"/>
            <a:ext cx="7863840" cy="158674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imgj/isp1-hq-r1-route-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468880"/>
            <a:ext cx="7863840" cy="1467917"/>
          </a:xfrm>
          <a:prstGeom prst="rect">
            <a:avLst/>
          </a:prstGeom>
        </p:spPr>
      </p:pic>
      <p:sp>
        <p:nvSpPr>
          <p:cNvPr id="12" name="image-frame"/>
          <p:cNvSpPr/>
          <p:nvPr/>
        </p:nvSpPr>
        <p:spPr>
          <a:xfrm>
            <a:off x="9509760" y="2468880"/>
            <a:ext cx="7863840" cy="146791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 txBox="1"/>
          <p:nvPr/>
        </p:nvSpPr>
        <p:spPr>
          <a:xfrm>
            <a:off x="914400" y="419278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BGP 65001, distance 20, 다음 홉 100.1.11.2(ISP-1)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9509760" y="4073957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OSPF 11, metric 201, 다음 홉 10.1.0.18(HQ-R2 광고)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914400" y="5577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시점 HQ-R1 show ip bgp summary</a:t>
            </a:r>
            <a:endParaRPr lang="en-US" sz="1800" dirty="0"/>
          </a:p>
        </p:txBody>
      </p:sp>
      <p:pic>
        <p:nvPicPr>
          <p:cNvPr id="19" name="Image 2" descr="imgj/isp1-hq-r1-bgp-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6080760"/>
            <a:ext cx="7863840" cy="2166925"/>
          </a:xfrm>
          <a:prstGeom prst="rect">
            <a:avLst/>
          </a:prstGeom>
        </p:spPr>
      </p:pic>
      <p:sp>
        <p:nvSpPr>
          <p:cNvPr id="20" name="image-frame"/>
          <p:cNvSpPr/>
          <p:nvPr/>
        </p:nvSpPr>
        <p:spPr>
          <a:xfrm>
            <a:off x="914400" y="6080760"/>
            <a:ext cx="7863840" cy="216692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note"/>
          <p:cNvSpPr/>
          <p:nvPr/>
        </p:nvSpPr>
        <p:spPr>
          <a:xfrm>
            <a:off x="9509760" y="6080760"/>
            <a:ext cx="7863840" cy="2167128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7"/>
          <p:cNvSpPr txBox="1"/>
          <p:nvPr/>
        </p:nvSpPr>
        <p:spPr>
          <a:xfrm>
            <a:off x="9875520" y="621792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100.1.11.2 세션 상태 Idle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ISP-1 방향 세션 단절 후 HQ-R2가 광고하는 OSPF 기본 경로 사용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17</a:t>
            </a:fld>
            <a:endParaRPr lang="en-US" sz="1000"/>
          </a:p>
        </p:txBody>
      </p:sp>
      <p:grpSp>
        <p:nvGrpSpPr>
          <p:cNvPr id="23" name="set-1"/>
          <p:cNvGrpSpPr/>
          <p:nvPr/>
        </p:nvGrpSpPr>
        <p:grpSpPr>
          <a:xfrm>
            <a:off x="1110122" y="2675291"/>
            <a:ext cx="6474277" cy="384048"/>
            <a:chOff x="1110122" y="2675291"/>
            <a:chExt cx="6474277" cy="384048"/>
          </a:xfrm>
        </p:grpSpPr>
        <p:sp>
          <p:nvSpPr>
            <p:cNvPr id="8" name="highlight-1"/>
            <p:cNvSpPr/>
            <p:nvPr/>
          </p:nvSpPr>
          <p:spPr>
            <a:xfrm>
              <a:off x="1110122" y="2776444"/>
              <a:ext cx="6039429" cy="1817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0">
              <a:solidFill>
                <a:srgbClr val="024A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ag-1"/>
            <p:cNvSpPr/>
            <p:nvPr/>
          </p:nvSpPr>
          <p:spPr>
            <a:xfrm>
              <a:off x="7200351" y="2675291"/>
              <a:ext cx="384048" cy="384048"/>
            </a:xfrm>
            <a:prstGeom prst="roundRect">
              <a:avLst>
                <a:gd name="adj" fmla="val 9524"/>
              </a:avLst>
            </a:prstGeom>
            <a:solidFill>
              <a:srgbClr val="024AD8"/>
            </a:solidFill>
            <a:ln w="6350">
              <a:solidFill>
                <a:srgbClr val="024AD8"/>
              </a:solidFill>
              <a:prstDash val="solid"/>
            </a:ln>
          </p:spPr>
          <p:txBody>
            <a:bodyPr wrap="none" lIns="0" tIns="0" rIns="0" bIns="0" anchor="ctr"/>
            <a:lstStyle/>
            <a:p>
              <a:pPr algn="ctr"/>
              <a:r>
                <a:rPr sz="1800" b="0">
                  <a:solidFill>
                    <a:srgbClr val="FFFFFF"/>
                  </a:solidFill>
                  <a:latin typeface="Pretendard Medium"/>
                </a:rPr>
                <a:t>1</a:t>
              </a:r>
            </a:p>
          </p:txBody>
        </p:sp>
      </p:grpSp>
      <p:grpSp>
        <p:nvGrpSpPr>
          <p:cNvPr id="24" name="set-2"/>
          <p:cNvGrpSpPr/>
          <p:nvPr/>
        </p:nvGrpSpPr>
        <p:grpSpPr>
          <a:xfrm>
            <a:off x="9705482" y="2661310"/>
            <a:ext cx="6432337" cy="384048"/>
            <a:chOff x="9705482" y="2661310"/>
            <a:chExt cx="6432337" cy="384048"/>
          </a:xfrm>
        </p:grpSpPr>
        <p:sp>
          <p:nvSpPr>
            <p:cNvPr id="13" name="highlight-2"/>
            <p:cNvSpPr/>
            <p:nvPr/>
          </p:nvSpPr>
          <p:spPr>
            <a:xfrm>
              <a:off x="9705482" y="2762463"/>
              <a:ext cx="5997489" cy="1817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0">
              <a:solidFill>
                <a:srgbClr val="024A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ag-2"/>
            <p:cNvSpPr/>
            <p:nvPr/>
          </p:nvSpPr>
          <p:spPr>
            <a:xfrm>
              <a:off x="15753771" y="2661310"/>
              <a:ext cx="384048" cy="384048"/>
            </a:xfrm>
            <a:prstGeom prst="roundRect">
              <a:avLst>
                <a:gd name="adj" fmla="val 9524"/>
              </a:avLst>
            </a:prstGeom>
            <a:solidFill>
              <a:srgbClr val="024AD8"/>
            </a:solidFill>
            <a:ln w="6350">
              <a:solidFill>
                <a:srgbClr val="024AD8"/>
              </a:solidFill>
              <a:prstDash val="solid"/>
            </a:ln>
          </p:spPr>
          <p:txBody>
            <a:bodyPr wrap="none" lIns="0" tIns="0" rIns="0" bIns="0" anchor="ctr"/>
            <a:lstStyle/>
            <a:p>
              <a:pPr algn="ctr"/>
              <a:r>
                <a:rPr sz="1800" b="0">
                  <a:solidFill>
                    <a:srgbClr val="FFFFFF"/>
                  </a:solidFill>
                  <a:latin typeface="Pretendard Medium"/>
                </a:rPr>
                <a:t>2</a:t>
              </a:r>
            </a:p>
          </p:txBody>
        </p:sp>
      </p:grp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ISP 이중화 (BGP · OSPF)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 결과: ISP-1 장애 시험 5개 항목 설계 충족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16459200" cy="58978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항목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설정 기준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실측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판정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BGP hold-time 만료 감지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BGP hold-time 9초, Keepalive 3초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마지막 Keepalive 후 약 9.7초에 NOTIFICATION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 b="1">
                          <a:solidFill>
                            <a:srgbClr val="1580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충족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피어 상태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 방향 세션 Down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HQ-R1 Idle, DC-R3 Active(재연결 시도 상태)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 b="1">
                          <a:solidFill>
                            <a:srgbClr val="1580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충족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기본 경로 전환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OSPF 기본 경로 metric 100(ISP-1), 200(ISP-2)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HQ-R1 OSPF metric 201, HQ-R2 BGP 다음 홉 100.2.12.2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 b="1">
                          <a:solidFill>
                            <a:srgbClr val="1580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 전환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터널 통신 유지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DMVPN 터널 경유 통신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ping 6개 모두 응답, 손실 0%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 b="1">
                          <a:solidFill>
                            <a:srgbClr val="1580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 동작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세션 복귀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ISP-1 세션 재수립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세션 수립과 경로 교환 약 1.6초, 기본 경로 BGP 복귀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 b="1">
                          <a:solidFill>
                            <a:srgbClr val="1580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 수립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18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ISP 이중화 (BGP · OSPF)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DMVPN Phase 3: Spoke 간 직접 연결 자동 생성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914400" y="2011680"/>
            <a:ext cx="7863840" cy="15544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234440" y="2194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mGRE 구성 설계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517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Hub(DC-R2)와 Spoke 3대(HQ-R2, BR1-R1, BR2-R2)로 구성한 DMVPN Phase 3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914400" y="3749040"/>
            <a:ext cx="7863840" cy="15544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234440" y="39319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기술적 선정 배경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3891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Hub-Spoke 구성의 설정 편의, NHRP redirect와 shortcut에 의한 Spoke 간 직접 연결 자동 생성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914400" y="5486400"/>
            <a:ext cx="7863840" cy="15544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234440" y="56692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DC-R1 연결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61264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DC-R1을 Private-net에 연결, DMVPN 인접성 단절에 대비한 백업</a:t>
            </a:r>
            <a:endParaRPr lang="en-US" sz="2100" dirty="0"/>
          </a:p>
        </p:txBody>
      </p:sp>
      <p:sp>
        <p:nvSpPr>
          <p:cNvPr id="13" name="card-3"/>
          <p:cNvSpPr/>
          <p:nvPr/>
        </p:nvSpPr>
        <p:spPr>
          <a:xfrm>
            <a:off x="914400" y="7223760"/>
            <a:ext cx="7863840" cy="15544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234440" y="7406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경과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78638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처음에는 Hub 단일 구성(이중화 없음)으로 Hub 장애 동작을 실측하고, 이후 DC-R1을 백업 Hub로 추가해 전환을 재측정</a:t>
            </a:r>
            <a:endParaRPr lang="en-US" sz="2100" dirty="0"/>
          </a:p>
        </p:txBody>
      </p:sp>
      <p:pic>
        <p:nvPicPr>
          <p:cNvPr id="29" name="Picture 28" descr="dm22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011680"/>
            <a:ext cx="7955280" cy="4198620"/>
          </a:xfrm>
          <a:prstGeom prst="rect">
            <a:avLst/>
          </a:prstGeom>
        </p:spPr>
      </p:pic>
      <p:sp>
        <p:nvSpPr>
          <p:cNvPr id="17" name="image-frame"/>
          <p:cNvSpPr/>
          <p:nvPr/>
        </p:nvSpPr>
        <p:spPr>
          <a:xfrm>
            <a:off x="9418320" y="2011680"/>
            <a:ext cx="7955280" cy="41986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9418320" y="632002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Private Internet 물리 연결(포트와 링크 대역, 빨간 선은 Hub, 파란 선은 백업 Hub)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21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DMVPN Phase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DMVPN 구성: Hub, 백업 Hub와 Spoke의 터널 주소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29" name="Picture 28" descr="dm22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8595360" cy="4536440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828800"/>
            <a:ext cx="8595360" cy="45364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75520" y="1828800"/>
          <a:ext cx="7498080" cy="3386384"/>
        </p:xfrm>
        <a:graphic>
          <a:graphicData uri="http://schemas.openxmlformats.org/drawingml/2006/table">
            <a:tbl>
              <a:tblPr/>
              <a:tblGrid>
                <a:gridCol w="142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9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장비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역할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Tunnel0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NBMA(Gi 포트)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DC-R2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Hub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172.16.0.1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203.0.113.5 (Gi2/0)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DC-R1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백업 Hub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172.16.0.2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203.0.113.1 (Gi2/0)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HQ-R2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Spoke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172.16.0.13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203.0.113.9 (Gi4/0)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BR1-R1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Spoke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172.16.0.11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203.0.113.13 (Gi4/0)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BR2-R2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Spoke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172.16.0.12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203.0.113.17 (Gi4/0)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9875520" y="5198800"/>
            <a:ext cx="810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터널 대역 172.16.0.0/24, NBMA는 Private Internet 언더레이 주소(203.0.113.0/24)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22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DMVPN Phase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DMVPN Hub 장애 지점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29" name="Picture 28" descr="dm23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828800"/>
            <a:ext cx="8686800" cy="4584700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828800"/>
            <a:ext cx="8686800" cy="45847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ard-0"/>
          <p:cNvSpPr/>
          <p:nvPr/>
        </p:nvSpPr>
        <p:spPr>
          <a:xfrm>
            <a:off x="10515600" y="182880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1083564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대상 인터페이스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835640" y="246888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DC-R2(DMVPN Hub)의 Tunnel0</a:t>
            </a:r>
            <a:endParaRPr lang="en-US" sz="2100" dirty="0"/>
          </a:p>
        </p:txBody>
      </p:sp>
      <p:sp>
        <p:nvSpPr>
          <p:cNvPr id="9" name="card-1"/>
          <p:cNvSpPr/>
          <p:nvPr/>
        </p:nvSpPr>
        <p:spPr>
          <a:xfrm>
            <a:off x="10515600" y="417576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10835640" y="4358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장애 재현 절차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835640" y="481584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interface tunnel 0 shutdown, 언더레이는 유지</a:t>
            </a:r>
            <a:endParaRPr lang="en-US" sz="2100" dirty="0"/>
          </a:p>
        </p:txBody>
      </p:sp>
      <p:sp>
        <p:nvSpPr>
          <p:cNvPr id="12" name="card-2"/>
          <p:cNvSpPr/>
          <p:nvPr/>
        </p:nvSpPr>
        <p:spPr>
          <a:xfrm>
            <a:off x="10515600" y="652272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10835640" y="6705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모니터링 항목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0835640" y="716280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Hub ESP 중단, shortcut 유지 여부, 우회 경로, 복구 시간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23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DMVPN Phase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검증: Hub 장애 후 105초 만에 터널 복구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80160" y="3840480"/>
            <a:ext cx="15727680" cy="0"/>
          </a:xfrm>
          <a:prstGeom prst="line">
            <a:avLst/>
          </a:prstGeom>
          <a:noFill/>
          <a:ln w="25400">
            <a:solidFill>
              <a:srgbClr val="C2C2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7280" y="3675888"/>
            <a:ext cx="329184" cy="329184"/>
          </a:xfrm>
          <a:prstGeom prst="ellipse">
            <a:avLst/>
          </a:prstGeom>
          <a:solidFill>
            <a:srgbClr val="024A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64.04초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Hub 마지막 ESP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389120" y="3675888"/>
            <a:ext cx="329184" cy="329184"/>
          </a:xfrm>
          <a:prstGeom prst="ellipse">
            <a:avLst/>
          </a:prstGeom>
          <a:solidFill>
            <a:srgbClr val="024A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206240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72.5초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HQ-R2 IKE 재시도 시작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680960" y="3675888"/>
            <a:ext cx="329184" cy="329184"/>
          </a:xfrm>
          <a:prstGeom prst="ellipse">
            <a:avLst/>
          </a:prstGeom>
          <a:solidFill>
            <a:srgbClr val="B326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498080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108.72초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shortcut ESP 중단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972800" y="3675888"/>
            <a:ext cx="329184" cy="329184"/>
          </a:xfrm>
          <a:prstGeom prst="ellipse">
            <a:avLst/>
          </a:prstGeom>
          <a:solidFill>
            <a:srgbClr val="024A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789920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168.88초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Hub의 IKE Main Mode 응답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4264640" y="3675888"/>
            <a:ext cx="329184" cy="329184"/>
          </a:xfrm>
          <a:prstGeom prst="ellipse">
            <a:avLst/>
          </a:prstGeom>
          <a:solidFill>
            <a:srgbClr val="024A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4081760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169.53초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Quick Mode 완료</a:t>
            </a:r>
            <a:endParaRPr lang="en-US" sz="2100" dirty="0"/>
          </a:p>
        </p:txBody>
      </p:sp>
      <p:sp>
        <p:nvSpPr>
          <p:cNvPr id="20" name="stat-0"/>
          <p:cNvSpPr/>
          <p:nvPr/>
        </p:nvSpPr>
        <p:spPr>
          <a:xfrm>
            <a:off x="914400" y="5669280"/>
            <a:ext cx="5242560" cy="27432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234440" y="5852160"/>
            <a:ext cx="460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약 105초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7178040"/>
            <a:ext cx="460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Hub 중단 시간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64.35초부터 168.88초</a:t>
            </a:r>
            <a:endParaRPr lang="en-US" sz="1800" dirty="0"/>
          </a:p>
        </p:txBody>
      </p:sp>
      <p:sp>
        <p:nvSpPr>
          <p:cNvPr id="23" name="stat-1"/>
          <p:cNvSpPr/>
          <p:nvPr/>
        </p:nvSpPr>
        <p:spPr>
          <a:xfrm>
            <a:off x="6522720" y="5669280"/>
            <a:ext cx="5242560" cy="27432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6842760" y="5852160"/>
            <a:ext cx="460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약 44초</a:t>
            </a:r>
            <a:endParaRPr lang="en-US" sz="5400" dirty="0"/>
          </a:p>
        </p:txBody>
      </p:sp>
      <p:sp>
        <p:nvSpPr>
          <p:cNvPr id="25" name="Text 23"/>
          <p:cNvSpPr txBox="1"/>
          <p:nvPr/>
        </p:nvSpPr>
        <p:spPr>
          <a:xfrm>
            <a:off x="6842760" y="7178040"/>
            <a:ext cx="460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shortcut ESP 유지 시간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traceroute 최종 홉 평균 약 218ms → 약 365ms</a:t>
            </a:r>
            <a:endParaRPr lang="en-US" sz="1800" dirty="0"/>
          </a:p>
        </p:txBody>
      </p:sp>
      <p:sp>
        <p:nvSpPr>
          <p:cNvPr id="26" name="stat-2"/>
          <p:cNvSpPr/>
          <p:nvPr/>
        </p:nvSpPr>
        <p:spPr>
          <a:xfrm>
            <a:off x="12131040" y="5669280"/>
            <a:ext cx="5242560" cy="27432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12451080" y="5852160"/>
            <a:ext cx="460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294개</a:t>
            </a:r>
            <a:endParaRPr lang="en-US" sz="5400" dirty="0"/>
          </a:p>
        </p:txBody>
      </p:sp>
      <p:sp>
        <p:nvSpPr>
          <p:cNvPr id="28" name="Text 26"/>
          <p:cNvSpPr txBox="1"/>
          <p:nvPr/>
        </p:nvSpPr>
        <p:spPr>
          <a:xfrm>
            <a:off x="12451080" y="7178040"/>
            <a:ext cx="460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ping 응답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손실 0%</a:t>
            </a:r>
            <a:endParaRPr lang="en-US" sz="1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24</a:t>
            </a:fld>
            <a:endParaRPr lang="en-US" sz="1000"/>
          </a:p>
        </p:txBody>
      </p:sp>
      <p:cxnSp>
        <p:nvCxnSpPr>
          <p:cNvPr id="29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1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DMVPN Phase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검증: 설계와 달랐던 점, shortcut의 44초 후 중단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16459200" cy="50292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항목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장애 전(터널 경유)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장애 후(ISP 경유)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Spoke 간 통신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shortcut ESP 유지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shortcut ESP 약 44초 유지 후 중단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경로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5홉: HQ-R2 → BR1-R1 Tunnel0(172.16.0.11)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8홉: HQ-R1 → ISP-1(PE-A, P1, PE-B) → BR1-R1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응답 시간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최종 홉 168.9 ~ 292.4ms(평균 약 218ms)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최종 홉 311.6 ~ 413.1ms(평균 약 365ms)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TTL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57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rd-0"/>
          <p:cNvSpPr/>
          <p:nvPr/>
        </p:nvSpPr>
        <p:spPr>
          <a:xfrm>
            <a:off x="914400" y="7223760"/>
            <a:ext cx="16459200" cy="164592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1234440" y="740664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결과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7863840"/>
            <a:ext cx="1581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Hub 장애 후 HQ-R2의 show ip ospf neighbor에서 Hub 이웃 소실, show ip route 10.3.10.0은 'Subnet not in table', traceroute 8홉(ISP 경유)</a:t>
            </a:r>
            <a:endParaRPr lang="en-US" sz="21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26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DMVPN Phase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검증: Hub 장애 전 traceroute는 터널 경유 5홉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image-frame"/>
          <p:cNvSpPr/>
          <p:nvPr/>
        </p:nvSpPr>
        <p:spPr>
          <a:xfrm>
            <a:off x="914400" y="1920240"/>
            <a:ext cx="12500000" cy="209299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14400" y="4063233"/>
            <a:ext cx="1591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HQ-PC1 traceroute 10.3.10.217(DMVPN shortcut 터널 경유, 시험 전 기준)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27</a:t>
            </a:fld>
            <a:endParaRPr lang="en-US" sz="1000"/>
          </a:p>
        </p:txBody>
      </p:sp>
      <p:pic>
        <p:nvPicPr>
          <p:cNvPr id="26" name="Picture 25" descr="base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12500000" cy="2092993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914400" y="4513233"/>
          <a:ext cx="16459200" cy="2640000"/>
        </p:xfrm>
        <a:graphic>
          <a:graphicData uri="http://schemas.openxmlformats.org/drawingml/2006/table">
            <a:tbl>
              <a:tblPr firstRow="1"/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홉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주소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장비와 포트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구간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10.1.10.2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HQ-SW-2 Vlan10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HQ 게이트웨이(VRRP Active)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10.1.0.5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HQ-R2 Gi0/0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HQ 코어, DMVPN Spoke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172.16.0.11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BR1-R1 Tunnel0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shortcut 터널(Hub DC-R2를 거치지 않음)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10.3.0.2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BR1-SW1-L3 1/1/1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BR1 분배 스위치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10.3.10.217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BR1-PC1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목적지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8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0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DMVPN Phase 3</a:t>
            </a:r>
          </a:p>
        </p:txBody>
      </p:sp>
      <p:sp>
        <p:nvSpPr>
          <p:cNvPr id="31" name="hl-box-1"/>
          <p:cNvSpPr/>
          <p:nvPr/>
        </p:nvSpPr>
        <p:spPr>
          <a:xfrm>
            <a:off x="914400" y="3054096"/>
            <a:ext cx="12490704" cy="292608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hl-tag-1"/>
          <p:cNvSpPr/>
          <p:nvPr/>
        </p:nvSpPr>
        <p:spPr>
          <a:xfrm>
            <a:off x="624400" y="3054096"/>
            <a:ext cx="230000" cy="23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hl-box-2"/>
          <p:cNvSpPr/>
          <p:nvPr/>
        </p:nvSpPr>
        <p:spPr>
          <a:xfrm>
            <a:off x="914400" y="3584448"/>
            <a:ext cx="12490704" cy="292608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hl-tag-2"/>
          <p:cNvSpPr/>
          <p:nvPr/>
        </p:nvSpPr>
        <p:spPr>
          <a:xfrm>
            <a:off x="624400" y="3584448"/>
            <a:ext cx="230000" cy="23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검증: Hub 장애 후 traceroute는 ISP 경유 8홉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26" name="Picture 25" descr="hub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12500000" cy="2811110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920240"/>
            <a:ext cx="12500000" cy="28111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14400" y="4781350"/>
            <a:ext cx="1591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HQ-PC1 traceroute 10.3.10.217(ISP 경유, 터널 1홉이 ISP 구간 5홉으로 증가)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28</a:t>
            </a:fld>
            <a:endParaRPr lang="en-US" sz="100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914400" y="5231350"/>
          <a:ext cx="16459200" cy="3960000"/>
        </p:xfrm>
        <a:graphic>
          <a:graphicData uri="http://schemas.openxmlformats.org/drawingml/2006/table">
            <a:tbl>
              <a:tblPr firstRow="1"/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홉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주소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장비와 포트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구간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10.1.10.2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HQ-SW-2 Vlan10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HQ 게이트웨이(VRRP Active)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10.1.0.1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HQ-R1 Gi0/0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HQ 코어, HQ-R2의 터널 경로 소실로 HQ-R1 경유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100.1.11.2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ISP-1-PE-A Gi2/0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ISP-1 진입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100.1.0.2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ISP-1-P1 Gi0/0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ISP-1 MPLS 코어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100.1.31.2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ISP-1-PE-B Gi2/0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ISP-1 이탈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100.1.31.1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BR1-R1 Gi3/0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BR1 진입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10.3.0.2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BR1-SW1-L3 1/1/1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BR1 분배 스위치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10.3.10.217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BR1-PC1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목적지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28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0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DMVPN Phase 3</a:t>
            </a:r>
          </a:p>
        </p:txBody>
      </p:sp>
      <p:sp>
        <p:nvSpPr>
          <p:cNvPr id="31" name="hl-box-1"/>
          <p:cNvSpPr/>
          <p:nvPr/>
        </p:nvSpPr>
        <p:spPr>
          <a:xfrm>
            <a:off x="950976" y="3017520"/>
            <a:ext cx="12454128" cy="1042416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hl-tag-1"/>
          <p:cNvSpPr/>
          <p:nvPr/>
        </p:nvSpPr>
        <p:spPr>
          <a:xfrm>
            <a:off x="660976" y="3017520"/>
            <a:ext cx="230000" cy="23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hl-box-2"/>
          <p:cNvSpPr/>
          <p:nvPr/>
        </p:nvSpPr>
        <p:spPr>
          <a:xfrm>
            <a:off x="950976" y="4334256"/>
            <a:ext cx="12454128" cy="274320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hl-tag-2"/>
          <p:cNvSpPr/>
          <p:nvPr/>
        </p:nvSpPr>
        <p:spPr>
          <a:xfrm>
            <a:off x="660976" y="4334256"/>
            <a:ext cx="230000" cy="23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Hub 이중화: DC-R1 백업 Hub 구성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16459200" cy="50292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항목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대상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설정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백업 Hub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DC-R1 Tunnel0(172.16.0.2)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DC-R2와 같은 mGRE, NHRP network-id 100, IPsec profile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Spoke 등록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HQ-R2, BR1-R1, BR2-R2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NHS 172.16.0.1(기존)에 172.16.0.2 추가, NBMA 203.0.113.1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평상시 경로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DC-R1 gi0/0, gi1/0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ip ospf cost 100, Spoke는 DC-R2(172.16.0.1) 우선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언더레이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BR1-R1 → DC-R1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NBMA ping 5/5 응답, 60/88/100ms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rd-0"/>
          <p:cNvSpPr/>
          <p:nvPr/>
        </p:nvSpPr>
        <p:spPr>
          <a:xfrm>
            <a:off x="914400" y="7223760"/>
            <a:ext cx="16459200" cy="164592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1234440" y="740664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7863840"/>
            <a:ext cx="1581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Tunnel0 경로 선점 이슈 해결을 위해 비용(Cost) 설정을 DC 내부 링크로 변경</a:t>
            </a:r>
            <a:endParaRPr lang="en-US" sz="21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29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DMVPN Phase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검증: Hub 장애 시 DC-R1 경유로 전환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image-frame"/>
          <p:cNvSpPr/>
          <p:nvPr/>
        </p:nvSpPr>
        <p:spPr>
          <a:xfrm>
            <a:off x="914400" y="1920240"/>
            <a:ext cx="9000000" cy="28975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14400" y="4867800"/>
            <a:ext cx="1591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HQ-PC1 traceroute 10.10.10.13, 위는 평상시, 아래는 DC-R2 Tunnel0 shutdown 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30</a:t>
            </a:fld>
            <a:endParaRPr lang="en-US" sz="100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914400" y="5287800"/>
          <a:ext cx="16459200" cy="2640000"/>
        </p:xfrm>
        <a:graphic>
          <a:graphicData uri="http://schemas.openxmlformats.org/drawingml/2006/table">
            <a:tbl>
              <a:tblPr firstRow="1"/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홉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평상시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장애 후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 Medium"/>
                        </a:rPr>
                        <a:t>의미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10.1.10.2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10.1.10.2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HQ-SW-2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10.1.0.5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10.1.0.5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HQ-R2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172.16.0.1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172.16.0.2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Hub: DC-R2에서 DC-R1로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10.2.0.14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10.2.0.6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DC 내부 링크(Hub별)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dc-sw3-l3(10.10.10.13)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dc-sw3-l3(10.10.10.13)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1A"/>
                          </a:solidFill>
                          <a:latin typeface="Pretendard"/>
                        </a:rPr>
                        <a:t>목적지</a:t>
                      </a: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8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0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DMVPN Phase 3</a:t>
            </a:r>
          </a:p>
        </p:txBody>
      </p:sp>
      <p:pic>
        <p:nvPicPr>
          <p:cNvPr id="31" name="Picture 30" descr="f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9000000" cy="289756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914400" y="2754386"/>
            <a:ext cx="9000000" cy="166829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4400" y="2754386"/>
            <a:ext cx="230000" cy="23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211945"/>
            <a:ext cx="9000000" cy="158048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4400" y="4211945"/>
            <a:ext cx="230000" cy="23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MPLS L3VPN: 사이트 /16 prefix를 ISP 코어에서 격리 전달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8900000" y="19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60000" y="20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LDP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60000" y="24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ISP 내부 링크에 mpls ip 적용, 장비별 레이블 광고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8900000" y="427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60000" y="442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VRF corp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60000" y="483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PE의 사이트 방향 포트를 VRF에 포함, 사이트 eBGP를 VRF 안에서 동작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8900000" y="66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160000" y="67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vpnv4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60000" y="71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Route Reflector 경유 MP-BGP로 사이트 /16 전달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32</a:t>
            </a:fld>
            <a:endParaRPr lang="en-US" sz="1000"/>
          </a:p>
        </p:txBody>
      </p:sp>
      <p:pic>
        <p:nvPicPr>
          <p:cNvPr id="26" name="Picture 25" descr="is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7600000" cy="6854901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cxnSp>
        <p:nvCxnSpPr>
          <p:cNvPr id="27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9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MPLS L3VPN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검증: 2중 MPLS 레이블 스택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Image 0" descr="imgj/z-mpls.png"/>
          <p:cNvPicPr>
            <a:picLocks noChangeAspect="1"/>
          </p:cNvPicPr>
          <p:nvPr/>
        </p:nvPicPr>
        <p:blipFill>
          <a:blip r:embed="rId3"/>
          <a:srcRect l="1455" t="10000" r="7091" b="11429"/>
          <a:stretch>
            <a:fillRect/>
          </a:stretch>
        </p:blipFill>
        <p:spPr>
          <a:xfrm>
            <a:off x="914400" y="1920240"/>
            <a:ext cx="15910560" cy="1739723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920240"/>
            <a:ext cx="15910560" cy="173972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14400" y="3797123"/>
            <a:ext cx="1591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확대: 패킷 상세의 MPLS Header 두 줄(링크 71, 필터 mpls)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33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MPLS L3VPN</a:t>
            </a:r>
          </a:p>
        </p:txBody>
      </p:sp>
      <p:sp>
        <p:nvSpPr>
          <p:cNvPr id="29" name="hl-box-1"/>
          <p:cNvSpPr/>
          <p:nvPr/>
        </p:nvSpPr>
        <p:spPr>
          <a:xfrm>
            <a:off x="914400" y="2442875"/>
            <a:ext cx="15587662" cy="329187"/>
          </a:xfrm>
          <a:prstGeom prst="rect">
            <a:avLst/>
          </a:prstGeom>
          <a:solidFill>
            <a:srgbClr val="F7F7F7">
              <a:alpha val="40000"/>
            </a:srgbClr>
          </a:solidFill>
          <a:ln w="28575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l-tag-1"/>
          <p:cNvSpPr/>
          <p:nvPr/>
        </p:nvSpPr>
        <p:spPr>
          <a:xfrm>
            <a:off x="614400" y="2428875"/>
            <a:ext cx="260000" cy="26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1" name="hl-box-2"/>
          <p:cNvSpPr/>
          <p:nvPr/>
        </p:nvSpPr>
        <p:spPr>
          <a:xfrm>
            <a:off x="914400" y="2814350"/>
            <a:ext cx="15587662" cy="329187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l-tag-2"/>
          <p:cNvSpPr/>
          <p:nvPr/>
        </p:nvSpPr>
        <p:spPr>
          <a:xfrm>
            <a:off x="614400" y="2800350"/>
            <a:ext cx="260000" cy="26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3" name="hl-box-3"/>
          <p:cNvSpPr/>
          <p:nvPr/>
        </p:nvSpPr>
        <p:spPr>
          <a:xfrm>
            <a:off x="914400" y="3185825"/>
            <a:ext cx="15587662" cy="329187"/>
          </a:xfrm>
          <a:prstGeom prst="rect">
            <a:avLst/>
          </a:prstGeom>
          <a:solidFill>
            <a:srgbClr val="F7F7F7">
              <a:alpha val="40000"/>
            </a:srgbClr>
          </a:solidFill>
          <a:ln w="28575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l-tag-3"/>
          <p:cNvSpPr/>
          <p:nvPr/>
        </p:nvSpPr>
        <p:spPr>
          <a:xfrm>
            <a:off x="614400" y="3171825"/>
            <a:ext cx="260000" cy="26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0" name="card-0"/>
          <p:cNvSpPr/>
          <p:nvPr/>
        </p:nvSpPr>
        <p:spPr>
          <a:xfrm>
            <a:off x="914400" y="4458603"/>
            <a:ext cx="4002300" cy="19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1114400" y="4548603"/>
            <a:ext cx="36023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바깥 레이블 12004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14400" y="4908603"/>
            <a:ext cx="36023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LDP가 PE-B Loopback(100.100.100.4)에 광고한 전송 레이블, S: 0</a:t>
            </a:r>
            <a:endParaRPr lang="en-US" sz="2100" dirty="0"/>
          </a:p>
        </p:txBody>
      </p:sp>
      <p:sp>
        <p:nvSpPr>
          <p:cNvPr id="10" name="card-0"/>
          <p:cNvSpPr/>
          <p:nvPr/>
        </p:nvSpPr>
        <p:spPr>
          <a:xfrm>
            <a:off x="5066700" y="4458603"/>
            <a:ext cx="4002300" cy="19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5266700" y="4548603"/>
            <a:ext cx="36023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안쪽 레이블 14007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66700" y="4908603"/>
            <a:ext cx="36023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PE-B가 BR1 prefix(10.3.0.0/16)에 부여한 VPN 레이블, S: 1(스택 끝)</a:t>
            </a:r>
            <a:endParaRPr lang="en-US" sz="2100" dirty="0"/>
          </a:p>
        </p:txBody>
      </p:sp>
      <p:sp>
        <p:nvSpPr>
          <p:cNvPr id="10" name="card-0"/>
          <p:cNvSpPr/>
          <p:nvPr/>
        </p:nvSpPr>
        <p:spPr>
          <a:xfrm>
            <a:off x="9219000" y="4458603"/>
            <a:ext cx="4002300" cy="19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9419000" y="4548603"/>
            <a:ext cx="36023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내부 IP 패킷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419000" y="4908603"/>
            <a:ext cx="36023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10.1.10.100 → 10.3.10.217, 레이블 두 겹으로 감싼 사용자 패킷</a:t>
            </a:r>
            <a:endParaRPr lang="en-US" sz="2100" dirty="0"/>
          </a:p>
        </p:txBody>
      </p:sp>
      <p:sp>
        <p:nvSpPr>
          <p:cNvPr id="10" name="card-0"/>
          <p:cNvSpPr/>
          <p:nvPr/>
        </p:nvSpPr>
        <p:spPr>
          <a:xfrm>
            <a:off x="13371300" y="4458603"/>
            <a:ext cx="4002300" cy="19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13571300" y="4548603"/>
            <a:ext cx="36023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조건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571300" y="4908603"/>
            <a:ext cx="36023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Hub 장애로 트래픽이 ISP 경로로 이동한 상태의 링크 71 캡처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검증: LDP Label Mapping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image-frame"/>
          <p:cNvSpPr/>
          <p:nvPr/>
        </p:nvSpPr>
        <p:spPr>
          <a:xfrm>
            <a:off x="914400" y="1920240"/>
            <a:ext cx="15500000" cy="15241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914400" y="3494420"/>
            <a:ext cx="104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ISP-1-P1 → PE-A, 프레임 316(136.62초), 필터 ldp.msg.type == 0x0400</a:t>
            </a:r>
            <a:endParaRPr lang="en-US" sz="1800" dirty="0"/>
          </a:p>
        </p:txBody>
      </p:sp>
      <p:sp>
        <p:nvSpPr>
          <p:cNvPr id="19" name="card-0"/>
          <p:cNvSpPr/>
          <p:nvPr/>
        </p:nvSpPr>
        <p:spPr>
          <a:xfrm>
            <a:off x="914400" y="3944420"/>
            <a:ext cx="380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1114400" y="4064420"/>
            <a:ext cx="3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IP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114400" y="4444420"/>
            <a:ext cx="34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100.100.100.2(P1) → 100.100.100.1(PE-A), Loopback 주소로 세션</a:t>
            </a:r>
            <a:endParaRPr lang="en-US" sz="2100" dirty="0"/>
          </a:p>
        </p:txBody>
      </p:sp>
      <p:sp>
        <p:nvSpPr>
          <p:cNvPr id="22" name="card-1"/>
          <p:cNvSpPr/>
          <p:nvPr/>
        </p:nvSpPr>
        <p:spPr>
          <a:xfrm>
            <a:off x="4864400" y="3944420"/>
            <a:ext cx="380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5064400" y="4064420"/>
            <a:ext cx="3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TCP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064400" y="4444420"/>
            <a:ext cx="34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Src Port 65403 → 목적지 포트 646(LDP), Len 310</a:t>
            </a:r>
            <a:endParaRPr lang="en-US" sz="2100" dirty="0"/>
          </a:p>
        </p:txBody>
      </p:sp>
      <p:sp>
        <p:nvSpPr>
          <p:cNvPr id="25" name="card-2"/>
          <p:cNvSpPr/>
          <p:nvPr/>
        </p:nvSpPr>
        <p:spPr>
          <a:xfrm>
            <a:off x="8814400" y="3944420"/>
            <a:ext cx="380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 txBox="1"/>
          <p:nvPr/>
        </p:nvSpPr>
        <p:spPr>
          <a:xfrm>
            <a:off x="9014400" y="4064420"/>
            <a:ext cx="3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Label Distribution Protocol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014400" y="4444420"/>
            <a:ext cx="34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Label Mapping 메시지 여러 개(패킷 바이트에서 레이블 확인)</a:t>
            </a:r>
            <a:endParaRPr lang="en-US" sz="2100" dirty="0"/>
          </a:p>
        </p:txBody>
      </p:sp>
      <p:sp>
        <p:nvSpPr>
          <p:cNvPr id="28" name="card-3"/>
          <p:cNvSpPr/>
          <p:nvPr/>
        </p:nvSpPr>
        <p:spPr>
          <a:xfrm>
            <a:off x="12764400" y="3944420"/>
            <a:ext cx="380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 txBox="1"/>
          <p:nvPr/>
        </p:nvSpPr>
        <p:spPr>
          <a:xfrm>
            <a:off x="12964400" y="4064420"/>
            <a:ext cx="3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Info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2964400" y="4444420"/>
            <a:ext cx="34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 b="1">
                <a:solidFill>
                  <a:srgbClr val="0B2A5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Label Mapping Message 연속, 프레임 316(136.62초)</a:t>
            </a:r>
            <a:endParaRPr lang="en-US" sz="21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35</a:t>
            </a:fld>
            <a:endParaRPr lang="en-US" sz="1000"/>
          </a:p>
        </p:txBody>
      </p:sp>
      <p:pic>
        <p:nvPicPr>
          <p:cNvPr id="31" name="Picture 30" descr="N_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15500000" cy="966233"/>
          </a:xfrm>
          <a:prstGeom prst="rect">
            <a:avLst/>
          </a:prstGeom>
        </p:spPr>
      </p:pic>
      <p:pic>
        <p:nvPicPr>
          <p:cNvPr id="32" name="Picture 31" descr="N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36473"/>
            <a:ext cx="15500000" cy="307947"/>
          </a:xfrm>
          <a:prstGeom prst="rect">
            <a:avLst/>
          </a:prstGeom>
        </p:spPr>
      </p:pic>
      <p:sp>
        <p:nvSpPr>
          <p:cNvPr id="33" name="hl-box-1"/>
          <p:cNvSpPr/>
          <p:nvPr/>
        </p:nvSpPr>
        <p:spPr>
          <a:xfrm>
            <a:off x="914400" y="1934240"/>
            <a:ext cx="15500000" cy="294077"/>
          </a:xfrm>
          <a:prstGeom prst="rect">
            <a:avLst/>
          </a:prstGeom>
          <a:solidFill>
            <a:srgbClr val="F7F7F7">
              <a:alpha val="40000"/>
            </a:srgbClr>
          </a:solidFill>
          <a:ln w="28575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hl-tag-1"/>
          <p:cNvSpPr/>
          <p:nvPr/>
        </p:nvSpPr>
        <p:spPr>
          <a:xfrm>
            <a:off x="624400" y="1920240"/>
            <a:ext cx="230000" cy="23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hl-box-2"/>
          <p:cNvSpPr/>
          <p:nvPr/>
        </p:nvSpPr>
        <p:spPr>
          <a:xfrm>
            <a:off x="914400" y="2256317"/>
            <a:ext cx="15500000" cy="294077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hl-tag-2"/>
          <p:cNvSpPr/>
          <p:nvPr/>
        </p:nvSpPr>
        <p:spPr>
          <a:xfrm>
            <a:off x="624400" y="2242317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7" name="hl-box-3"/>
          <p:cNvSpPr/>
          <p:nvPr/>
        </p:nvSpPr>
        <p:spPr>
          <a:xfrm>
            <a:off x="914400" y="2578395"/>
            <a:ext cx="15500000" cy="294077"/>
          </a:xfrm>
          <a:prstGeom prst="rect">
            <a:avLst/>
          </a:prstGeom>
          <a:solidFill>
            <a:srgbClr val="F7F7F7">
              <a:alpha val="40000"/>
            </a:srgbClr>
          </a:solidFill>
          <a:ln w="28575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hl-tag-3"/>
          <p:cNvSpPr/>
          <p:nvPr/>
        </p:nvSpPr>
        <p:spPr>
          <a:xfrm>
            <a:off x="624400" y="2564395"/>
            <a:ext cx="230000" cy="23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9" name="hl-box-4"/>
          <p:cNvSpPr/>
          <p:nvPr/>
        </p:nvSpPr>
        <p:spPr>
          <a:xfrm>
            <a:off x="914400" y="3136473"/>
            <a:ext cx="15500000" cy="307947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hl-tag-4"/>
          <p:cNvSpPr/>
          <p:nvPr/>
        </p:nvSpPr>
        <p:spPr>
          <a:xfrm>
            <a:off x="624400" y="3136473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cxnSp>
        <p:nvCxnSpPr>
          <p:cNvPr id="41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43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MPLS L3VPN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QoS 클래스와 정책 구조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16459200" cy="2800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클래스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분류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보장 대역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비고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cm-control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match dscp cs6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제어 트래픽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cm-business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ACL acl-qos-dns(UDP/TCP 53)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분류된 패킷에 DSCP af31 표시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class-default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나머지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대역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fair-queue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rd-0"/>
          <p:cNvSpPr/>
          <p:nvPr/>
        </p:nvSpPr>
        <p:spPr>
          <a:xfrm>
            <a:off x="914400" y="5300000"/>
            <a:ext cx="16459200" cy="128016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1234440" y="548300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범위</a:t>
            </a:r>
            <a:endParaRPr lang="en-US" sz="1800" dirty="0"/>
          </a:p>
        </p:txBody>
      </p:sp>
      <p:sp>
        <p:nvSpPr>
          <p:cNvPr id="4" name="Text 4"/>
          <p:cNvSpPr txBox="1"/>
          <p:nvPr/>
        </p:nvSpPr>
        <p:spPr>
          <a:xfrm>
            <a:off x="1234440" y="5940000"/>
            <a:ext cx="1581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사이트 라우터 10대의 스위치 방향 Gi0/0, Gi1/0 20포트, 출력 방향. ISP, Private Internet, Tunnel0은 제외</a:t>
            </a:r>
            <a:endParaRPr lang="en-US" sz="2100" dirty="0"/>
          </a:p>
        </p:txBody>
      </p:sp>
      <p:sp>
        <p:nvSpPr>
          <p:cNvPr id="8" name="card-1"/>
          <p:cNvSpPr/>
          <p:nvPr/>
        </p:nvSpPr>
        <p:spPr>
          <a:xfrm>
            <a:off x="914400" y="6900000"/>
            <a:ext cx="16459200" cy="128016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1234440" y="708300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 구조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7540000"/>
            <a:ext cx="1581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pm-lan-out(shape average 10Mbps, 검증용 병목) 아래 자식 pm-lan-out-child에 클래스별 bandwidth percent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44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QoS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QoS 분류 방식: DSCP 매치에서 ACL로 변경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914400" y="2011680"/>
            <a:ext cx="786384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234440" y="2194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당초 설계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5176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DSCP 값 매치로 DNS 분류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914400" y="4297680"/>
            <a:ext cx="786384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234440" y="4480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제약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93776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인터페이스에서 DNS 패킷에 DSCP를 미리 마킹하는 지점이 없어 매치 불가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914400" y="6583680"/>
            <a:ext cx="786384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234440" y="6766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방식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722376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L4 포트(UDP, TCP 53) Extended ACL로 직접 분류, 분류 패킷에 af31 마킹</a:t>
            </a:r>
            <a:endParaRPr lang="en-US" sz="21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26880" y="2011680"/>
          <a:ext cx="8046720" cy="39319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클래스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분류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보장 대역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cm-control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dscp cs6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cm-business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ACL(DNS 53)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class-default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나머지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대역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9326880" y="6217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사이트 라우터 10대의 Gi0/0, Gi1/0 출력 방향 20포트 적용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45</a:t>
            </a:fld>
            <a:endParaRPr lang="en-US" sz="1000"/>
          </a:p>
        </p:txBody>
      </p:sp>
      <p:cxnSp>
        <p:nvCxnSpPr>
          <p:cNvPr id="53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55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QoS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검증: 병목 시 class-default만 drop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tat-0"/>
          <p:cNvSpPr/>
          <p:nvPr/>
        </p:nvSpPr>
        <p:spPr>
          <a:xfrm>
            <a:off x="914400" y="2103120"/>
            <a:ext cx="5242560" cy="29260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460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+755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712464"/>
            <a:ext cx="460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class-default drop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578에서 1333으로 증가</a:t>
            </a:r>
            <a:endParaRPr lang="en-US" sz="1800" dirty="0"/>
          </a:p>
        </p:txBody>
      </p:sp>
      <p:sp>
        <p:nvSpPr>
          <p:cNvPr id="7" name="stat-1"/>
          <p:cNvSpPr/>
          <p:nvPr/>
        </p:nvSpPr>
        <p:spPr>
          <a:xfrm>
            <a:off x="6522720" y="2103120"/>
            <a:ext cx="5242560" cy="29260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842760" y="2286000"/>
            <a:ext cx="460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842760" y="3712464"/>
            <a:ext cx="460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cm-business drop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DNS 분류 drop 없음</a:t>
            </a:r>
            <a:endParaRPr lang="en-US" sz="1800" dirty="0"/>
          </a:p>
        </p:txBody>
      </p:sp>
      <p:sp>
        <p:nvSpPr>
          <p:cNvPr id="10" name="stat-2"/>
          <p:cNvSpPr/>
          <p:nvPr/>
        </p:nvSpPr>
        <p:spPr>
          <a:xfrm>
            <a:off x="12131040" y="2103120"/>
            <a:ext cx="5242560" cy="29260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2451080" y="2286000"/>
            <a:ext cx="460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20회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12451080" y="3712464"/>
            <a:ext cx="460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nslookup 반복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 2회 timed out, 이후 정상 응답(10.10.10.1)</a:t>
            </a:r>
            <a:endParaRPr lang="en-US" sz="1800" dirty="0"/>
          </a:p>
        </p:txBody>
      </p:sp>
      <p:sp>
        <p:nvSpPr>
          <p:cNvPr id="13" name="card-0"/>
          <p:cNvSpPr/>
          <p:nvPr/>
        </p:nvSpPr>
        <p:spPr>
          <a:xfrm>
            <a:off x="914400" y="5577840"/>
            <a:ext cx="16459200" cy="173736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234440" y="576072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방법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6217920"/>
            <a:ext cx="1581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DC-R2 Gi0/0 shape를 낮춰 병목을 만들고 큰 ping과 DNS 질의를 동시 실행. 시험 후 shape average 10000000으로 복구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46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QoS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DNS ACL 적용 위치: 스위치에서 라우터로 변경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914400" y="2011680"/>
            <a:ext cx="786384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234440" y="2194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당초 계획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5176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VLAN 보호용 DNS ACL을 DC 스위치 인터페이스에 적용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914400" y="4297680"/>
            <a:ext cx="786384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234440" y="4480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에뮬레이터 제약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93776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vEOS-lab에서 ip access-group out이 "Unavailable command"로 거부(가상 플랫폼 제약)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914400" y="6583680"/>
            <a:ext cx="786384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234440" y="6766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변경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722376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ACL 적용 위치를 DC 라우터(DC-R1~R4) Gi0/0, Gi1/0 출력 방향으로 이동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스위치에서 거부된 화면</a:t>
            </a:r>
            <a:endParaRPr lang="en-US" sz="1800" dirty="0"/>
          </a:p>
        </p:txBody>
      </p:sp>
      <p:pic>
        <p:nvPicPr>
          <p:cNvPr id="14" name="Image 0" descr="imgj/acl-ce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468880"/>
            <a:ext cx="8046720" cy="680455"/>
          </a:xfrm>
          <a:prstGeom prst="rect">
            <a:avLst/>
          </a:prstGeom>
        </p:spPr>
      </p:pic>
      <p:sp>
        <p:nvSpPr>
          <p:cNvPr id="15" name="image-frame"/>
          <p:cNvSpPr/>
          <p:nvPr/>
        </p:nvSpPr>
        <p:spPr>
          <a:xfrm>
            <a:off x="9326880" y="2468880"/>
            <a:ext cx="8046720" cy="68045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932688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DC-R2 차단 로그</a:t>
            </a:r>
            <a:endParaRPr lang="en-US" sz="1800" dirty="0"/>
          </a:p>
        </p:txBody>
      </p:sp>
      <p:pic>
        <p:nvPicPr>
          <p:cNvPr id="17" name="Image 1" descr="imgj/acl-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4297680"/>
            <a:ext cx="8046720" cy="478780"/>
          </a:xfrm>
          <a:prstGeom prst="rect">
            <a:avLst/>
          </a:prstGeom>
        </p:spPr>
      </p:pic>
      <p:sp>
        <p:nvSpPr>
          <p:cNvPr id="18" name="image-frame"/>
          <p:cNvSpPr/>
          <p:nvPr/>
        </p:nvSpPr>
        <p:spPr>
          <a:xfrm>
            <a:off x="9326880" y="4297680"/>
            <a:ext cx="8046720" cy="4787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 txBox="1"/>
          <p:nvPr/>
        </p:nvSpPr>
        <p:spPr>
          <a:xfrm>
            <a:off x="9326880" y="5669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 패킷은 선로에 나가지 않아 로그와 카운터로 확인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48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ACL (Private Internet · DNS)</a:t>
            </a:r>
          </a:p>
        </p:txBody>
      </p:sp>
      <p:sp>
        <p:nvSpPr>
          <p:cNvPr id="29" name="hl-box-1"/>
          <p:cNvSpPr/>
          <p:nvPr/>
        </p:nvSpPr>
        <p:spPr>
          <a:xfrm>
            <a:off x="9326880" y="2743200"/>
            <a:ext cx="8046720" cy="420624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hl-tag-1"/>
          <p:cNvSpPr/>
          <p:nvPr/>
        </p:nvSpPr>
        <p:spPr>
          <a:xfrm>
            <a:off x="9036880" y="2743200"/>
            <a:ext cx="230000" cy="23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1" name="hl-box-2"/>
          <p:cNvSpPr/>
          <p:nvPr/>
        </p:nvSpPr>
        <p:spPr>
          <a:xfrm>
            <a:off x="9326880" y="4315968"/>
            <a:ext cx="8046720" cy="475488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hl-tag-2"/>
          <p:cNvSpPr/>
          <p:nvPr/>
        </p:nvSpPr>
        <p:spPr>
          <a:xfrm>
            <a:off x="9036880" y="4315968"/>
            <a:ext cx="230000" cy="23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Private Internet: 필요한 프로토콜만 허용하는 화이트리스트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8900000" y="19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60000" y="20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정책 대상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60000" y="24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Private Internet 라우터(Private-net)에 ACL 화이트리스트 적용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8900000" y="427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60000" y="442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설계 근거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60000" y="483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사설 백본(Private Internet)에는 외부 인터넷 트래픽이 필요 없어 기본 차단하고 필요한 프로토콜만 허용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8900000" y="66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160000" y="67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허용 정책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60000" y="71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 b="1">
                <a:solidFill>
                  <a:srgbClr val="0B2A5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OSPF, GRE, ESP, UDP 500, ICMP(임시)만 허용, 나머지는 deny ip any any log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49</a:t>
            </a:fld>
            <a:endParaRPr lang="en-US" sz="1000"/>
          </a:p>
        </p:txBody>
      </p:sp>
      <p:pic>
        <p:nvPicPr>
          <p:cNvPr id="26" name="Picture 25" descr="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7600000" cy="437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2054400" y="2051340"/>
            <a:ext cx="2356000" cy="1048800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4400" y="2051340"/>
            <a:ext cx="300000" cy="3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cxnSp>
        <p:nvCxnSpPr>
          <p:cNvPr id="29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1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ACL (Private Internet · DNS)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터미널: Private-net whitelist ACL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59459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image-frame"/>
          <p:cNvSpPr/>
          <p:nvPr/>
        </p:nvSpPr>
        <p:spPr>
          <a:xfrm>
            <a:off x="914400" y="1920240"/>
            <a:ext cx="16459200" cy="338398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Picture 25" descr="161.jpg"/>
          <p:cNvPicPr>
            <a:picLocks noChangeAspect="1"/>
          </p:cNvPicPr>
          <p:nvPr/>
        </p:nvPicPr>
        <p:blipFill>
          <a:blip r:embed="rId2"/>
          <a:srcRect r="7911"/>
          <a:stretch>
            <a:fillRect/>
          </a:stretch>
        </p:blipFill>
        <p:spPr>
          <a:xfrm>
            <a:off x="914400" y="1920240"/>
            <a:ext cx="16459200" cy="338398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354225"/>
            <a:ext cx="151570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Private-net whitelist ACL</a:t>
            </a:r>
            <a:endParaRPr lang="en-US" sz="1800" dirty="0"/>
          </a:p>
        </p:txBody>
      </p:sp>
      <p:sp>
        <p:nvSpPr>
          <p:cNvPr id="7" name="card-0"/>
          <p:cNvSpPr/>
          <p:nvPr/>
        </p:nvSpPr>
        <p:spPr>
          <a:xfrm>
            <a:off x="914400" y="6004225"/>
            <a:ext cx="530352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1188720" y="6134225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6504225"/>
            <a:ext cx="47548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 ip access-lists pi-whitelist</a:t>
            </a:r>
            <a:endParaRPr lang="en-US" sz="2100" dirty="0"/>
          </a:p>
        </p:txBody>
      </p:sp>
      <p:sp>
        <p:nvSpPr>
          <p:cNvPr id="10" name="card-1"/>
          <p:cNvSpPr/>
          <p:nvPr/>
        </p:nvSpPr>
        <p:spPr>
          <a:xfrm>
            <a:off x="6492240" y="6004225"/>
            <a:ext cx="530352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766560" y="6134225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6504225"/>
            <a:ext cx="47548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OSPF, GRE, ESP, UDP 500, ICMP permit, 그 외 deny</a:t>
            </a:r>
            <a:endParaRPr lang="en-US" sz="2100" dirty="0"/>
          </a:p>
        </p:txBody>
      </p:sp>
      <p:sp>
        <p:nvSpPr>
          <p:cNvPr id="13" name="card-2"/>
          <p:cNvSpPr/>
          <p:nvPr/>
        </p:nvSpPr>
        <p:spPr>
          <a:xfrm>
            <a:off x="12070080" y="6004225"/>
            <a:ext cx="530352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2344400" y="6134225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b="1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결과 (설계 충족)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0" y="6504225"/>
            <a:ext cx="47548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ospf(6 matches), 40 esp(7 matches), 50 udp isakmp, 70 deny ip any any log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51</a:t>
            </a:fld>
            <a:endParaRPr lang="en-US" sz="1000"/>
          </a:p>
        </p:txBody>
      </p:sp>
      <p:sp>
        <p:nvSpPr>
          <p:cNvPr id="27" name="hl-box-1"/>
          <p:cNvSpPr/>
          <p:nvPr/>
        </p:nvSpPr>
        <p:spPr>
          <a:xfrm>
            <a:off x="914400" y="2714601"/>
            <a:ext cx="16459200" cy="397180"/>
          </a:xfrm>
          <a:prstGeom prst="rect">
            <a:avLst/>
          </a:prstGeom>
          <a:noFill/>
          <a:ln w="2222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hl-tag-1"/>
          <p:cNvSpPr/>
          <p:nvPr/>
        </p:nvSpPr>
        <p:spPr>
          <a:xfrm>
            <a:off x="614400" y="2714601"/>
            <a:ext cx="400000" cy="4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9" name="hl-box-2"/>
          <p:cNvSpPr/>
          <p:nvPr/>
        </p:nvSpPr>
        <p:spPr>
          <a:xfrm>
            <a:off x="914400" y="3824823"/>
            <a:ext cx="16459200" cy="385068"/>
          </a:xfrm>
          <a:prstGeom prst="rect">
            <a:avLst/>
          </a:prstGeom>
          <a:solidFill>
            <a:srgbClr val="F7F7F7">
              <a:alpha val="40000"/>
            </a:srgbClr>
          </a:solidFill>
          <a:ln w="22225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hl-tag-2"/>
          <p:cNvSpPr/>
          <p:nvPr/>
        </p:nvSpPr>
        <p:spPr>
          <a:xfrm>
            <a:off x="614400" y="3810823"/>
            <a:ext cx="400000" cy="40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1" name="hl-box-3"/>
          <p:cNvSpPr/>
          <p:nvPr/>
        </p:nvSpPr>
        <p:spPr>
          <a:xfrm>
            <a:off x="914400" y="4190229"/>
            <a:ext cx="16459200" cy="385068"/>
          </a:xfrm>
          <a:prstGeom prst="rect">
            <a:avLst/>
          </a:prstGeom>
          <a:noFill/>
          <a:ln w="2222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hl-tag-3"/>
          <p:cNvSpPr/>
          <p:nvPr/>
        </p:nvSpPr>
        <p:spPr>
          <a:xfrm>
            <a:off x="614400" y="4176229"/>
            <a:ext cx="400000" cy="4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3" name="hl-box-4"/>
          <p:cNvSpPr/>
          <p:nvPr/>
        </p:nvSpPr>
        <p:spPr>
          <a:xfrm>
            <a:off x="914400" y="4986480"/>
            <a:ext cx="16459200" cy="317744"/>
          </a:xfrm>
          <a:prstGeom prst="rect">
            <a:avLst/>
          </a:prstGeom>
          <a:noFill/>
          <a:ln w="2222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hl-tag-4"/>
          <p:cNvSpPr/>
          <p:nvPr/>
        </p:nvSpPr>
        <p:spPr>
          <a:xfrm>
            <a:off x="614400" y="4986480"/>
            <a:ext cx="400000" cy="4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cxnSp>
        <p:nvCxnSpPr>
          <p:cNvPr id="35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7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02 설계 판단과 검증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ACL (Private Internet · DNS)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914400" y="29260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38912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벤더별-프로토콜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66928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기능, 다른 명령과 동작</a:t>
            </a:r>
            <a:endParaRPr lang="en-US" sz="27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53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벤더별 동작 차이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16459200" cy="61264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항목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Cisco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Arista(vEOS-lab)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Aruba(AOS-CX)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VRRP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동작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동작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전역 router vrrp enable 필요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VRRP 전환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 로그 약 0.19초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공백 약 3.2초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공백 약 4.0초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EtherChannel 확인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show etherchannel summary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show port-channel dense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show lacp aggregates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LACP 상대 확인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show lacp peer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show lacp interfaces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인터페이스 ACL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지원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미지원(Unavailable)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DHCP Offer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2개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VIP 출발지 포함 3개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14400" y="859536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명령은 벤더 간 이식 없이 장비에서 먼저 확인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54</a:t>
            </a:fld>
            <a:endParaRPr lang="en-US" sz="1000"/>
          </a:p>
        </p:txBody>
      </p:sp>
      <p:cxnSp>
        <p:nvCxnSpPr>
          <p:cNvPr id="103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105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벤더 비교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Cisco-VRRP: 게이트웨이 이중화로 통신 유지(HQ)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8900000" y="19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60000" y="20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토폴로지 설계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60000" y="24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HQ-SW-2(Active, 우선순위 110), HQ-SW-3(Standby, 90)가 VLAN 10, 20에 VRRP 구성, VIP 10.1.10.1, 10.1.20.1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8900000" y="427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60000" y="442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설계 기준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60000" y="483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게이트웨이 장애 시 Backup이 같은 VIP를 이어받아 호스트 설정 변경 없이 통신 유지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8900000" y="66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160000" y="67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벤더 확인사항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60000" y="71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Cisco: vrrp 10 ip 10.1.10.1, show vrrp brief, 전환 약 0.19초(장비 로그 기준)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56</a:t>
            </a:fld>
            <a:endParaRPr lang="en-US" sz="10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5067187" cy="690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1167759" y="5370240"/>
            <a:ext cx="4408452" cy="1173000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4400" y="5370240"/>
            <a:ext cx="300000" cy="3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cxnSp>
        <p:nvCxnSpPr>
          <p:cNvPr id="29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1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Cisco · VRRP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Cisco-VRRP: 장애 지점(HQ-SW-2 ↔ HQ-SW-3)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Image 0" descr="imgj/c-vrrp-h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8686800" cy="5907024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828800"/>
            <a:ext cx="8686800" cy="590702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card-0"/>
          <p:cNvSpPr/>
          <p:nvPr/>
        </p:nvSpPr>
        <p:spPr>
          <a:xfrm>
            <a:off x="10515600" y="182880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1083564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대상 인터페이스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835640" y="246888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HQ-SW-2 ↔ HQ-SW-3 Gi0/2(VRRP 광고 링크), HQ-SW-2의 Vl10</a:t>
            </a:r>
            <a:endParaRPr lang="en-US" sz="2100" dirty="0"/>
          </a:p>
        </p:txBody>
      </p:sp>
      <p:sp>
        <p:nvSpPr>
          <p:cNvPr id="12" name="card-1"/>
          <p:cNvSpPr/>
          <p:nvPr/>
        </p:nvSpPr>
        <p:spPr>
          <a:xfrm>
            <a:off x="10515600" y="417576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10835640" y="4358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장애 재현 절차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0835640" y="481584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HQ-SW-2 interface vlan 10 shutdown 후 no shutdown</a:t>
            </a:r>
            <a:endParaRPr lang="en-US" sz="2100" dirty="0"/>
          </a:p>
        </p:txBody>
      </p:sp>
      <p:sp>
        <p:nvSpPr>
          <p:cNvPr id="15" name="card-2"/>
          <p:cNvSpPr/>
          <p:nvPr/>
        </p:nvSpPr>
        <p:spPr>
          <a:xfrm>
            <a:off x="10515600" y="652272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10835640" y="6705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모니터링 항목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0835640" y="716280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Master 전환 시간, ping 손실, preempt 복귀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57</a:t>
            </a:fld>
            <a:endParaRPr lang="en-US" sz="1000"/>
          </a:p>
        </p:txBody>
      </p:sp>
      <p:grpSp>
        <p:nvGrpSpPr>
          <p:cNvPr id="18" name="set-1"/>
          <p:cNvGrpSpPr/>
          <p:nvPr/>
        </p:nvGrpSpPr>
        <p:grpSpPr>
          <a:xfrm>
            <a:off x="3172968" y="3356655"/>
            <a:ext cx="4621377" cy="574349"/>
            <a:chOff x="3172968" y="3356655"/>
            <a:chExt cx="4621377" cy="574349"/>
          </a:xfrm>
        </p:grpSpPr>
        <p:sp>
          <p:nvSpPr>
            <p:cNvPr id="7" name="tag-1"/>
            <p:cNvSpPr/>
            <p:nvPr/>
          </p:nvSpPr>
          <p:spPr>
            <a:xfrm>
              <a:off x="5291632" y="3356655"/>
              <a:ext cx="384048" cy="384048"/>
            </a:xfrm>
            <a:prstGeom prst="roundRect">
              <a:avLst>
                <a:gd name="adj" fmla="val 9524"/>
              </a:avLst>
            </a:prstGeom>
            <a:solidFill>
              <a:srgbClr val="B3262B"/>
            </a:solidFill>
            <a:ln w="6350">
              <a:solidFill>
                <a:srgbClr val="B3262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agtext-1"/>
            <p:cNvSpPr txBox="1"/>
            <p:nvPr/>
          </p:nvSpPr>
          <p:spPr>
            <a:xfrm>
              <a:off x="5291632" y="3356655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FFFFFF"/>
                  </a:solidFill>
                  <a:latin typeface="Pretendard Medium" pitchFamily="34" charset="0"/>
                  <a:ea typeface="Pretendard Medium" pitchFamily="34" charset="-122"/>
                  <a:cs typeface="Pretendard Medium" pitchFamily="34" charset="-120"/>
                </a:rPr>
                <a:t>1</a:t>
              </a:r>
              <a:endParaRPr lang="en-US" sz="1800" dirty="0"/>
            </a:p>
          </p:txBody>
        </p:sp>
        <p:sp>
          <p:nvSpPr>
            <p:cNvPr id="6" name="link-1"/>
            <p:cNvSpPr/>
            <p:nvPr/>
          </p:nvSpPr>
          <p:spPr>
            <a:xfrm flipV="1">
              <a:off x="3172968" y="3800703"/>
              <a:ext cx="4621377" cy="130301"/>
            </a:xfrm>
            <a:prstGeom prst="line">
              <a:avLst/>
            </a:prstGeom>
            <a:noFill/>
            <a:ln w="50800">
              <a:solidFill>
                <a:srgbClr val="B3262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</p:grp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Cisco · VRRP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Cisco-VRRP: 장비 로그와 ping(전환 약 0.19초)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202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HQ-SW-2 로그: Vl10 Master에서 Init</a:t>
            </a:r>
            <a:endParaRPr lang="en-US" sz="1800" dirty="0"/>
          </a:p>
        </p:txBody>
      </p:sp>
      <p:pic>
        <p:nvPicPr>
          <p:cNvPr id="5" name="Image 0" descr="imgj/vrrp-hq-lo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3160"/>
            <a:ext cx="8686800" cy="392113"/>
          </a:xfrm>
          <a:prstGeom prst="rect">
            <a:avLst/>
          </a:prstGeom>
        </p:spPr>
      </p:pic>
      <p:sp>
        <p:nvSpPr>
          <p:cNvPr id="6" name="image-frame"/>
          <p:cNvSpPr/>
          <p:nvPr/>
        </p:nvSpPr>
        <p:spPr>
          <a:xfrm>
            <a:off x="914400" y="2423160"/>
            <a:ext cx="8686800" cy="39211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14400" y="3135313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HQ-SW-3 로그: Vl10 Backup에서 Master</a:t>
            </a:r>
            <a:endParaRPr lang="en-US" sz="1800" dirty="0"/>
          </a:p>
        </p:txBody>
      </p:sp>
      <p:pic>
        <p:nvPicPr>
          <p:cNvPr id="8" name="Image 1" descr="imgj/vrrp-hq-lo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38232"/>
            <a:ext cx="8686800" cy="454212"/>
          </a:xfrm>
          <a:prstGeom prst="rect">
            <a:avLst/>
          </a:prstGeom>
        </p:spPr>
      </p:pic>
      <p:sp>
        <p:nvSpPr>
          <p:cNvPr id="9" name="image-frame"/>
          <p:cNvSpPr/>
          <p:nvPr/>
        </p:nvSpPr>
        <p:spPr>
          <a:xfrm>
            <a:off x="914400" y="3638232"/>
            <a:ext cx="8686800" cy="45421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 txBox="1"/>
          <p:nvPr/>
        </p:nvSpPr>
        <p:spPr>
          <a:xfrm>
            <a:off x="914400" y="4412484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HQ-PC1 ping 통계</a:t>
            </a:r>
            <a:endParaRPr lang="en-US" sz="1800" dirty="0"/>
          </a:p>
        </p:txBody>
      </p:sp>
      <p:pic>
        <p:nvPicPr>
          <p:cNvPr id="11" name="Image 2" descr="imgj/vrrp-hq-p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15404"/>
            <a:ext cx="8686800" cy="651276"/>
          </a:xfrm>
          <a:prstGeom prst="rect">
            <a:avLst/>
          </a:prstGeom>
        </p:spPr>
      </p:pic>
      <p:sp>
        <p:nvSpPr>
          <p:cNvPr id="12" name="image-frame"/>
          <p:cNvSpPr/>
          <p:nvPr/>
        </p:nvSpPr>
        <p:spPr>
          <a:xfrm>
            <a:off x="914400" y="4915404"/>
            <a:ext cx="8686800" cy="65127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ard-0"/>
          <p:cNvSpPr/>
          <p:nvPr/>
        </p:nvSpPr>
        <p:spPr>
          <a:xfrm>
            <a:off x="10607040" y="1920240"/>
            <a:ext cx="6766560" cy="150876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 txBox="1"/>
          <p:nvPr/>
        </p:nvSpPr>
        <p:spPr>
          <a:xfrm>
            <a:off x="10927080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시간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0927080" y="25603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 b="1">
                <a:solidFill>
                  <a:srgbClr val="0B2A5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00:13:56.227(HQ-SW-2 Init)에서 00:13:56.415(HQ-SW-3 Master)까지 약 0.19초</a:t>
            </a:r>
            <a:endParaRPr lang="en-US" sz="2100" dirty="0"/>
          </a:p>
        </p:txBody>
      </p:sp>
      <p:sp>
        <p:nvSpPr>
          <p:cNvPr id="16" name="card-1"/>
          <p:cNvSpPr/>
          <p:nvPr/>
        </p:nvSpPr>
        <p:spPr>
          <a:xfrm>
            <a:off x="10607040" y="3611880"/>
            <a:ext cx="6766560" cy="150876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 txBox="1"/>
          <p:nvPr/>
        </p:nvSpPr>
        <p:spPr>
          <a:xfrm>
            <a:off x="10927080" y="37947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복구 결과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0927080" y="42519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shutdown 후 Backup 00:34:47.639, Master 복귀 00:34:51.209(약 3.6초)</a:t>
            </a:r>
            <a:endParaRPr lang="en-US" sz="2100" dirty="0"/>
          </a:p>
        </p:txBody>
      </p:sp>
      <p:sp>
        <p:nvSpPr>
          <p:cNvPr id="19" name="card-2"/>
          <p:cNvSpPr/>
          <p:nvPr/>
        </p:nvSpPr>
        <p:spPr>
          <a:xfrm>
            <a:off x="10607040" y="5303520"/>
            <a:ext cx="6766560" cy="150876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 txBox="1"/>
          <p:nvPr/>
        </p:nvSpPr>
        <p:spPr>
          <a:xfrm>
            <a:off x="10927080" y="54864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연결성 확인(ping)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0927080" y="59436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29개 중 28개 응답, 손실 1개(3%), 최대 80.308 ms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59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Cisco · VRRP</a:t>
            </a:r>
          </a:p>
        </p:txBody>
      </p:sp>
      <p:sp>
        <p:nvSpPr>
          <p:cNvPr id="29" name="hl-box-1"/>
          <p:cNvSpPr/>
          <p:nvPr/>
        </p:nvSpPr>
        <p:spPr>
          <a:xfrm>
            <a:off x="914400" y="2432304"/>
            <a:ext cx="8686800" cy="402336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hl-tag-1"/>
          <p:cNvSpPr/>
          <p:nvPr/>
        </p:nvSpPr>
        <p:spPr>
          <a:xfrm>
            <a:off x="624400" y="2432304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1" name="hl-box-2"/>
          <p:cNvSpPr/>
          <p:nvPr/>
        </p:nvSpPr>
        <p:spPr>
          <a:xfrm>
            <a:off x="914400" y="3675888"/>
            <a:ext cx="8686800" cy="438912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hl-tag-2"/>
          <p:cNvSpPr/>
          <p:nvPr/>
        </p:nvSpPr>
        <p:spPr>
          <a:xfrm>
            <a:off x="624400" y="3675888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3" name="hl-box-3"/>
          <p:cNvSpPr/>
          <p:nvPr/>
        </p:nvSpPr>
        <p:spPr>
          <a:xfrm>
            <a:off x="914400" y="5065776"/>
            <a:ext cx="8686800" cy="256032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hl-tag-3"/>
          <p:cNvSpPr/>
          <p:nvPr/>
        </p:nvSpPr>
        <p:spPr>
          <a:xfrm>
            <a:off x="624400" y="5065776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Cisco-MSTP: 게이트웨이와 L2 루트 일치(HQ)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8900000" y="192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60000" y="203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토폴로지 설계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60000" y="242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region hq, instance 1에 VLAN 10, 20, 100 매핑, 루트 HQ-SW-2(4096), 보조 루트 HQ-SW-3(8192)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8900000" y="367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ard-1"/>
          <p:cNvSpPr/>
          <p:nvPr/>
        </p:nvSpPr>
        <p:spPr>
          <a:xfrm>
            <a:off x="8900000" y="542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60000" y="378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설계 기준</a:t>
            </a:r>
            <a:endParaRPr lang="en-US" sz="1800" dirty="0"/>
          </a:p>
        </p:txBody>
      </p:sp>
      <p:sp>
        <p:nvSpPr>
          <p:cNvPr id="14" name="Text 6"/>
          <p:cNvSpPr txBox="1"/>
          <p:nvPr/>
        </p:nvSpPr>
        <p:spPr>
          <a:xfrm>
            <a:off x="9160000" y="553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주요 설정 (Configuration)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60000" y="417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게이트웨이(VRRP Active)와 L2 루트를 같은 스위치로 맞춰 우회 경로 방지, 표준(IEEE 802.1s)</a:t>
            </a:r>
            <a:endParaRPr lang="en-US" sz="2100" dirty="0"/>
          </a:p>
        </p:txBody>
      </p:sp>
      <p:sp>
        <p:nvSpPr>
          <p:cNvPr id="15" name="Text 7"/>
          <p:cNvSpPr txBox="1"/>
          <p:nvPr/>
        </p:nvSpPr>
        <p:spPr>
          <a:xfrm>
            <a:off x="9160000" y="592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spanning-tree mode mst, mst configuration(name hq, revision 1, instance 1 vlan 10,20,100), spanning-tree mst 1 priority 4096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8900000" y="717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160000" y="728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상태 검증 (Verification)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60000" y="767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 spanning-tree mst 1: HQ-SW-2 priority 4097, Root this switch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60</a:t>
            </a:fld>
            <a:endParaRPr lang="en-US" sz="10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067187" cy="690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1066415" y="3852240"/>
            <a:ext cx="4560468" cy="2760000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4400" y="3852240"/>
            <a:ext cx="300000" cy="3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cxnSp>
        <p:nvCxnSpPr>
          <p:cNvPr id="29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1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Cisco · MSTP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-frame"/>
          <p:cNvSpPr/>
          <p:nvPr/>
        </p:nvSpPr>
        <p:spPr>
          <a:xfrm>
            <a:off x="914400" y="1920240"/>
            <a:ext cx="15500000" cy="14211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Cisco-EtherChannel: show etherchannel summary(HQ-SW-2)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391380"/>
            <a:ext cx="973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HQ-SW-2 EtherChannel</a:t>
            </a:r>
            <a:endParaRPr lang="en-US" sz="1800" dirty="0"/>
          </a:p>
        </p:txBody>
      </p:sp>
      <p:sp>
        <p:nvSpPr>
          <p:cNvPr id="7" name="card-0"/>
          <p:cNvSpPr/>
          <p:nvPr/>
        </p:nvSpPr>
        <p:spPr>
          <a:xfrm>
            <a:off x="914400" y="7450000"/>
            <a:ext cx="530352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1188720" y="7580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7950000"/>
            <a:ext cx="47548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 etherchannel summary</a:t>
            </a:r>
            <a:endParaRPr lang="en-US" sz="2100" dirty="0"/>
          </a:p>
        </p:txBody>
      </p:sp>
      <p:sp>
        <p:nvSpPr>
          <p:cNvPr id="10" name="card-1"/>
          <p:cNvSpPr/>
          <p:nvPr/>
        </p:nvSpPr>
        <p:spPr>
          <a:xfrm>
            <a:off x="6492240" y="7450000"/>
            <a:ext cx="530352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766560" y="7580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7950000"/>
            <a:ext cx="47548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Po1, Po3 LACP, 멤버 (P)</a:t>
            </a:r>
            <a:endParaRPr lang="en-US" sz="2100" dirty="0"/>
          </a:p>
        </p:txBody>
      </p:sp>
      <p:sp>
        <p:nvSpPr>
          <p:cNvPr id="13" name="card-2"/>
          <p:cNvSpPr/>
          <p:nvPr/>
        </p:nvSpPr>
        <p:spPr>
          <a:xfrm>
            <a:off x="12070080" y="7450000"/>
            <a:ext cx="530352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2344400" y="7580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b="1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결과 (정상 수립)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0" y="7950000"/>
            <a:ext cx="47548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channel-groups 2, Po1(SU) Gi0/0(P) Gi0/1(P), Po3(SU) Gi0/2(P) Gi0/3(P)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61</a:t>
            </a:fld>
            <a:endParaRPr lang="en-US" sz="1000"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"/>
          <a:srcRect t="81775"/>
          <a:stretch>
            <a:fillRect/>
          </a:stretch>
        </p:blipFill>
        <p:spPr>
          <a:xfrm>
            <a:off x="914400" y="1920240"/>
            <a:ext cx="15500000" cy="1421140"/>
          </a:xfrm>
          <a:prstGeom prst="rect">
            <a:avLst/>
          </a:prstGeom>
        </p:spPr>
      </p:pic>
      <p:sp>
        <p:nvSpPr>
          <p:cNvPr id="28" name="hl-box-1"/>
          <p:cNvSpPr/>
          <p:nvPr/>
        </p:nvSpPr>
        <p:spPr>
          <a:xfrm>
            <a:off x="914400" y="2445251"/>
            <a:ext cx="15500000" cy="768741"/>
          </a:xfrm>
          <a:prstGeom prst="rect">
            <a:avLst/>
          </a:prstGeom>
          <a:noFill/>
          <a:ln w="2222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hl-tag-1"/>
          <p:cNvSpPr/>
          <p:nvPr/>
        </p:nvSpPr>
        <p:spPr>
          <a:xfrm>
            <a:off x="474400" y="2509313"/>
            <a:ext cx="400000" cy="4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cxnSp>
        <p:nvCxnSpPr>
          <p:cNvPr id="30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2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Cisco · EtherChannel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Arista-VRRP: 서버 게이트웨이 이중화(DC)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8900000" y="19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60000" y="20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토폴로지 설계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60000" y="24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DC-SW3-L3(Active, 110), DC-SW4-L3(Standby, 90)가 서버 VLAN 50에 VRRP 구성, VIP 10.2.50.1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8900000" y="427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60000" y="442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설계 기준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60000" y="483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게이트웨이 이중화, VARP 대신 표준 VRRP로 3벤더 통일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8900000" y="66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160000" y="67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벤더 확인사항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60000" y="71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Arista vEOS-lab: vrrp 50 ipv4 10.2.50.1, 광고 공백 약 3.2초(Wireshark)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64</a:t>
            </a:fld>
            <a:endParaRPr lang="en-US" sz="10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6097674" cy="690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1707097" y="5025240"/>
            <a:ext cx="4390325" cy="896999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4400" y="5025240"/>
            <a:ext cx="300000" cy="3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cxnSp>
        <p:nvCxnSpPr>
          <p:cNvPr id="29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1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Arista · VRRP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Arista-VRRP: 장애 지점(DC-SW3-L3)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Image 0" descr="imgj/c-vrrp-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8686800" cy="4053840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828800"/>
            <a:ext cx="8686800" cy="40538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card-0"/>
          <p:cNvSpPr/>
          <p:nvPr/>
        </p:nvSpPr>
        <p:spPr>
          <a:xfrm>
            <a:off x="10515600" y="182880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1083564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대상 인터페이스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835640" y="246888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DC-SW3-L3 ↔ DC-SW4-L3 Eth6(VRRP 광고 링크), DC-SW3-L3의 Vl50</a:t>
            </a:r>
            <a:endParaRPr lang="en-US" sz="2100" dirty="0"/>
          </a:p>
        </p:txBody>
      </p:sp>
      <p:sp>
        <p:nvSpPr>
          <p:cNvPr id="12" name="card-1"/>
          <p:cNvSpPr/>
          <p:nvPr/>
        </p:nvSpPr>
        <p:spPr>
          <a:xfrm>
            <a:off x="10515600" y="417576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10835640" y="4358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장애 재현 절차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0835640" y="481584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DC-SW3-L3 interface vlan 50 shutdown 후 no shutdown</a:t>
            </a:r>
            <a:endParaRPr lang="en-US" sz="2100" dirty="0"/>
          </a:p>
        </p:txBody>
      </p:sp>
      <p:sp>
        <p:nvSpPr>
          <p:cNvPr id="15" name="card-2"/>
          <p:cNvSpPr/>
          <p:nvPr/>
        </p:nvSpPr>
        <p:spPr>
          <a:xfrm>
            <a:off x="10515600" y="652272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10835640" y="6705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모니터링 항목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0835640" y="716280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공백, ping 손실, preempt 복귀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65</a:t>
            </a:fld>
            <a:endParaRPr lang="en-US" sz="1000"/>
          </a:p>
        </p:txBody>
      </p:sp>
      <p:grpSp>
        <p:nvGrpSpPr>
          <p:cNvPr id="18" name="set-1"/>
          <p:cNvGrpSpPr/>
          <p:nvPr/>
        </p:nvGrpSpPr>
        <p:grpSpPr>
          <a:xfrm>
            <a:off x="3086100" y="3230697"/>
            <a:ext cx="4053840" cy="487482"/>
            <a:chOff x="3086100" y="3230697"/>
            <a:chExt cx="4053840" cy="487482"/>
          </a:xfrm>
        </p:grpSpPr>
        <p:sp>
          <p:nvSpPr>
            <p:cNvPr id="7" name="tag-1"/>
            <p:cNvSpPr/>
            <p:nvPr/>
          </p:nvSpPr>
          <p:spPr>
            <a:xfrm>
              <a:off x="4920996" y="3230697"/>
              <a:ext cx="384048" cy="384048"/>
            </a:xfrm>
            <a:prstGeom prst="roundRect">
              <a:avLst>
                <a:gd name="adj" fmla="val 9524"/>
              </a:avLst>
            </a:prstGeom>
            <a:solidFill>
              <a:srgbClr val="B3262B"/>
            </a:solidFill>
            <a:ln w="6350">
              <a:solidFill>
                <a:srgbClr val="B3262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agtext-1"/>
            <p:cNvSpPr txBox="1"/>
            <p:nvPr/>
          </p:nvSpPr>
          <p:spPr>
            <a:xfrm>
              <a:off x="4920996" y="3230697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FFFFFF"/>
                  </a:solidFill>
                  <a:latin typeface="Pretendard Medium" pitchFamily="34" charset="0"/>
                  <a:ea typeface="Pretendard Medium" pitchFamily="34" charset="-122"/>
                  <a:cs typeface="Pretendard Medium" pitchFamily="34" charset="-120"/>
                </a:rPr>
                <a:t>1</a:t>
              </a:r>
              <a:endParaRPr lang="en-US" sz="1800" dirty="0"/>
            </a:p>
          </p:txBody>
        </p:sp>
        <p:sp>
          <p:nvSpPr>
            <p:cNvPr id="6" name="link-1"/>
            <p:cNvSpPr/>
            <p:nvPr/>
          </p:nvSpPr>
          <p:spPr>
            <a:xfrm flipV="1">
              <a:off x="3086100" y="3674745"/>
              <a:ext cx="4053840" cy="43434"/>
            </a:xfrm>
            <a:prstGeom prst="line">
              <a:avLst/>
            </a:prstGeom>
            <a:noFill/>
            <a:ln w="50800">
              <a:solidFill>
                <a:srgbClr val="B3262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</p:grp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Arista · VRRP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Arista-VRRP: 광고 공백 약 3.2초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Image 0" descr="imgj/z-vdc.png"/>
          <p:cNvPicPr>
            <a:picLocks noChangeAspect="1"/>
          </p:cNvPicPr>
          <p:nvPr/>
        </p:nvPicPr>
        <p:blipFill>
          <a:blip r:embed="rId3"/>
          <a:srcRect t="8140" b="40698"/>
          <a:stretch>
            <a:fillRect/>
          </a:stretch>
        </p:blipFill>
        <p:spPr>
          <a:xfrm>
            <a:off x="914400" y="1920240"/>
            <a:ext cx="15910560" cy="875080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920240"/>
            <a:ext cx="15910560" cy="8750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14400" y="2932480"/>
            <a:ext cx="1591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확대: 파란 박스는 SW-3 마지막 광고 줄과 바로 아래 SW-4 첫 광고 줄(DC-SW3-L3 Eth6 ↔ DC-SW4-L3 Eth6, 필터 vrrp)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67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Arista · VRRP</a:t>
            </a:r>
          </a:p>
        </p:txBody>
      </p:sp>
      <p:sp>
        <p:nvSpPr>
          <p:cNvPr id="29" name="hl-box-1"/>
          <p:cNvSpPr/>
          <p:nvPr/>
        </p:nvSpPr>
        <p:spPr>
          <a:xfrm>
            <a:off x="1000000" y="2180000"/>
            <a:ext cx="15750000" cy="173168"/>
          </a:xfrm>
          <a:prstGeom prst="rect">
            <a:avLst/>
          </a:prstGeom>
          <a:solidFill>
            <a:srgbClr val="F7F7F7">
              <a:alpha val="40000"/>
            </a:srgbClr>
          </a:solidFill>
          <a:ln w="28575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l-tag-1"/>
          <p:cNvSpPr/>
          <p:nvPr/>
        </p:nvSpPr>
        <p:spPr>
          <a:xfrm>
            <a:off x="614400" y="2166000"/>
            <a:ext cx="260000" cy="26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1" name="hl-box-2"/>
          <p:cNvSpPr/>
          <p:nvPr/>
        </p:nvSpPr>
        <p:spPr>
          <a:xfrm>
            <a:off x="1000000" y="2381000"/>
            <a:ext cx="15750000" cy="173168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l-tag-2"/>
          <p:cNvSpPr/>
          <p:nvPr/>
        </p:nvSpPr>
        <p:spPr>
          <a:xfrm>
            <a:off x="16850000" y="2367000"/>
            <a:ext cx="260000" cy="26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card-0"/>
          <p:cNvSpPr/>
          <p:nvPr/>
        </p:nvSpPr>
        <p:spPr>
          <a:xfrm>
            <a:off x="914400" y="3593960"/>
            <a:ext cx="5386400" cy="17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1114400" y="3683960"/>
            <a:ext cx="49864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SW-3 마지막 광고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14400" y="4043960"/>
            <a:ext cx="498640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189.80초(10.2.50.2)</a:t>
            </a:r>
            <a:endParaRPr lang="en-US" sz="2100" dirty="0"/>
          </a:p>
        </p:txBody>
      </p:sp>
      <p:sp>
        <p:nvSpPr>
          <p:cNvPr id="10" name="card-0"/>
          <p:cNvSpPr/>
          <p:nvPr/>
        </p:nvSpPr>
        <p:spPr>
          <a:xfrm>
            <a:off x="6450800" y="3593960"/>
            <a:ext cx="5386400" cy="17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650800" y="3683960"/>
            <a:ext cx="49864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SW-4 첫 광고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650800" y="4043960"/>
            <a:ext cx="498640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192.96초(10.2.50.3)</a:t>
            </a:r>
            <a:endParaRPr lang="en-US" sz="2100" dirty="0"/>
          </a:p>
        </p:txBody>
      </p:sp>
      <p:sp>
        <p:nvSpPr>
          <p:cNvPr id="10" name="card-0"/>
          <p:cNvSpPr/>
          <p:nvPr/>
        </p:nvSpPr>
        <p:spPr>
          <a:xfrm>
            <a:off x="11987200" y="3593960"/>
            <a:ext cx="5386400" cy="17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12187200" y="3683960"/>
            <a:ext cx="49864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공백과 연결성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187200" y="4043960"/>
            <a:ext cx="498640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3.16초, DC-DNS-1 ping 119개 중 114개 응답(손실 5개, 4.2%)</a:t>
            </a:r>
            <a:endParaRPr lang="en-US" sz="2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Arista-MSTP: 차단 링크 없이 루트와 VRRP 일치(DC)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8900000" y="192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60000" y="203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토폴로지 설계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60000" y="242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region dc, instance 1에 VLAN 50, 100 매핑, 루트 DC-SW3-L3(4096), 보조 루트 DC-SW4-L3(8192)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8900000" y="367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ard-1"/>
          <p:cNvSpPr/>
          <p:nvPr/>
        </p:nvSpPr>
        <p:spPr>
          <a:xfrm>
            <a:off x="8900000" y="542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60000" y="378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설계 기준</a:t>
            </a:r>
            <a:endParaRPr lang="en-US" sz="1800" dirty="0"/>
          </a:p>
        </p:txBody>
      </p:sp>
      <p:sp>
        <p:nvSpPr>
          <p:cNvPr id="14" name="Text 6"/>
          <p:cNvSpPr txBox="1"/>
          <p:nvPr/>
        </p:nvSpPr>
        <p:spPr>
          <a:xfrm>
            <a:off x="9160000" y="553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주요 설정 (Configuration)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60000" y="417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MLAG 적용으로 L2 스위치 업링크의 STP 차단 링크 없음, 루트와 VRRP Active는 그대로 유지</a:t>
            </a:r>
            <a:endParaRPr lang="en-US" sz="2100" dirty="0"/>
          </a:p>
        </p:txBody>
      </p:sp>
      <p:sp>
        <p:nvSpPr>
          <p:cNvPr id="15" name="Text 7"/>
          <p:cNvSpPr txBox="1"/>
          <p:nvPr/>
        </p:nvSpPr>
        <p:spPr>
          <a:xfrm>
            <a:off x="9160000" y="592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spanning-tree mode mstp, mst configuration(name dc, revision 1, instance 1 vlan 50,100), spanning-tree mst 1 priority 4096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8900000" y="717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160000" y="728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상태 검증 (Verification)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60000" y="767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 spanning-tree mst 1: DC-SW3-L3 priority 4097, Root this switch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68</a:t>
            </a:fld>
            <a:endParaRPr lang="en-US" sz="10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6097674" cy="690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1097330" y="4956240"/>
            <a:ext cx="5731813" cy="2484000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4400" y="4956240"/>
            <a:ext cx="300000" cy="3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cxnSp>
        <p:nvCxnSpPr>
          <p:cNvPr id="29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1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Arista · MSTP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Arista-MLAG: 업링크 2개를 차단 없이 모두 사용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8900000" y="19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60000" y="20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해결 과제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60000" y="24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 스위치가 SW3, SW4로 올리는 업링크 2개 중 한쪽을 MSTP가 차단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8900000" y="427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60000" y="442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기술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60000" y="483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DC-SW3-L3, DC-SW4-L3를 MLAG 피어(도메인 dc-mlag)로 구성, 하나의 LACP 포트채널 형성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8900000" y="66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160000" y="67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60000" y="71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peer-link 기존 Po1 재사용, VLAN 4094, 10.2.254.0/30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71</a:t>
            </a:fld>
            <a:endParaRPr lang="en-US" sz="10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6097674" cy="690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1219283" y="5025240"/>
            <a:ext cx="5183022" cy="2967000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4400" y="5025240"/>
            <a:ext cx="300000" cy="3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cxnSp>
        <p:nvCxnSpPr>
          <p:cNvPr id="29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1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Arista · MLAG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image-frame"/>
          <p:cNvSpPr/>
          <p:nvPr/>
        </p:nvSpPr>
        <p:spPr>
          <a:xfrm>
            <a:off x="914400" y="1920240"/>
            <a:ext cx="11000000" cy="66557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Arista-MLAG: show mlag detail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625992"/>
            <a:ext cx="61437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DC-SW4-L3 MLAG 상세</a:t>
            </a:r>
            <a:endParaRPr lang="en-US" sz="1800" dirty="0"/>
          </a:p>
        </p:txBody>
      </p:sp>
      <p:sp>
        <p:nvSpPr>
          <p:cNvPr id="7" name="card-0"/>
          <p:cNvSpPr/>
          <p:nvPr/>
        </p:nvSpPr>
        <p:spPr>
          <a:xfrm>
            <a:off x="12400000" y="1920240"/>
            <a:ext cx="4973600" cy="19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12680000" y="2050240"/>
            <a:ext cx="4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680000" y="2440240"/>
            <a:ext cx="44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 mlag detail</a:t>
            </a:r>
            <a:endParaRPr lang="en-US" sz="2100" dirty="0"/>
          </a:p>
        </p:txBody>
      </p:sp>
      <p:sp>
        <p:nvSpPr>
          <p:cNvPr id="10" name="card-1"/>
          <p:cNvSpPr/>
          <p:nvPr/>
        </p:nvSpPr>
        <p:spPr>
          <a:xfrm>
            <a:off x="12400000" y="4020240"/>
            <a:ext cx="4973600" cy="19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12680000" y="4150240"/>
            <a:ext cx="4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680000" y="4540240"/>
            <a:ext cx="44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peer-config consistent, system-id 공유</a:t>
            </a:r>
            <a:endParaRPr lang="en-US" sz="2100" dirty="0"/>
          </a:p>
        </p:txBody>
      </p:sp>
      <p:sp>
        <p:nvSpPr>
          <p:cNvPr id="13" name="card-2"/>
          <p:cNvSpPr/>
          <p:nvPr/>
        </p:nvSpPr>
        <p:spPr>
          <a:xfrm>
            <a:off x="12400000" y="6120240"/>
            <a:ext cx="4973600" cy="19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2680000" y="6250240"/>
            <a:ext cx="4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b="1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결과 (정상 동작)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680000" y="6640240"/>
            <a:ext cx="44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 Active, secondary/peer primary, system-id 0e:06:2e:cc:02:b8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72</a:t>
            </a:fld>
            <a:endParaRPr lang="en-US" sz="1000"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"/>
          <a:srcRect t="8382" r="31427" b="82463"/>
          <a:stretch>
            <a:fillRect/>
          </a:stretch>
        </p:blipFill>
        <p:spPr>
          <a:xfrm>
            <a:off x="914400" y="1920240"/>
            <a:ext cx="11000000" cy="1649419"/>
          </a:xfrm>
          <a:prstGeom prst="rect">
            <a:avLst/>
          </a:prstGeom>
        </p:spPr>
      </p:pic>
      <p:sp>
        <p:nvSpPr>
          <p:cNvPr id="28" name="hl-box-1"/>
          <p:cNvSpPr/>
          <p:nvPr/>
        </p:nvSpPr>
        <p:spPr>
          <a:xfrm>
            <a:off x="914400" y="2567230"/>
            <a:ext cx="11000000" cy="413516"/>
          </a:xfrm>
          <a:prstGeom prst="rect">
            <a:avLst/>
          </a:prstGeom>
          <a:noFill/>
          <a:ln w="2222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hl-tag-1"/>
          <p:cNvSpPr/>
          <p:nvPr/>
        </p:nvSpPr>
        <p:spPr>
          <a:xfrm>
            <a:off x="474400" y="2640408"/>
            <a:ext cx="400000" cy="4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2"/>
          <a:srcRect t="21728" r="31499" b="69375"/>
          <a:stretch>
            <a:fillRect/>
          </a:stretch>
        </p:blipFill>
        <p:spPr>
          <a:xfrm>
            <a:off x="914400" y="4103977"/>
            <a:ext cx="10988384" cy="1602956"/>
          </a:xfrm>
          <a:prstGeom prst="rect">
            <a:avLst/>
          </a:prstGeom>
        </p:spPr>
      </p:pic>
      <p:sp>
        <p:nvSpPr>
          <p:cNvPr id="31" name="hl-box-2"/>
          <p:cNvSpPr/>
          <p:nvPr/>
        </p:nvSpPr>
        <p:spPr>
          <a:xfrm>
            <a:off x="914400" y="4704504"/>
            <a:ext cx="10988384" cy="413516"/>
          </a:xfrm>
          <a:prstGeom prst="rect">
            <a:avLst/>
          </a:prstGeom>
          <a:noFill/>
          <a:ln w="2222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hl-tag-2"/>
          <p:cNvSpPr/>
          <p:nvPr/>
        </p:nvSpPr>
        <p:spPr>
          <a:xfrm>
            <a:off x="474400" y="4777683"/>
            <a:ext cx="400000" cy="4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2"/>
          <a:srcRect t="41973" r="31644" b="45068"/>
          <a:stretch>
            <a:fillRect/>
          </a:stretch>
        </p:blipFill>
        <p:spPr>
          <a:xfrm>
            <a:off x="914400" y="6241251"/>
            <a:ext cx="10965153" cy="2334741"/>
          </a:xfrm>
          <a:prstGeom prst="rect">
            <a:avLst/>
          </a:prstGeom>
        </p:spPr>
      </p:pic>
      <p:sp>
        <p:nvSpPr>
          <p:cNvPr id="34" name="hl-box-3"/>
          <p:cNvSpPr/>
          <p:nvPr/>
        </p:nvSpPr>
        <p:spPr>
          <a:xfrm>
            <a:off x="914400" y="7225094"/>
            <a:ext cx="10965153" cy="761985"/>
          </a:xfrm>
          <a:prstGeom prst="rect">
            <a:avLst/>
          </a:prstGeom>
          <a:noFill/>
          <a:ln w="2222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hl-tag-3"/>
          <p:cNvSpPr/>
          <p:nvPr/>
        </p:nvSpPr>
        <p:spPr>
          <a:xfrm>
            <a:off x="474400" y="7298273"/>
            <a:ext cx="400000" cy="4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cxnSp>
        <p:nvCxnSpPr>
          <p:cNvPr id="3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Arista · MLAG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Arista-MLAG: 두 스위치의 동일 System ID 광고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Image 0" descr="imgj/z-mla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15910560" cy="4318581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920240"/>
            <a:ext cx="15910560" cy="431858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14400" y="6375981"/>
            <a:ext cx="1591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확대: LACPDU의 Actor System ID와 Partner System(DC-SW3-L3 Eth7 ↔ DC-SW1-L2 Eth1, 필터 slow)</a:t>
            </a:r>
            <a:endParaRPr lang="en-US" sz="1800" dirty="0"/>
          </a:p>
        </p:txBody>
      </p:sp>
      <p:sp>
        <p:nvSpPr>
          <p:cNvPr id="13" name="card-0"/>
          <p:cNvSpPr/>
          <p:nvPr/>
        </p:nvSpPr>
        <p:spPr>
          <a:xfrm>
            <a:off x="914400" y="7016061"/>
            <a:ext cx="5303520" cy="1853619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188720" y="7198941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Actor System ID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7656141"/>
            <a:ext cx="4754880" cy="1076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0e:06:2e:cc:02:b8, DC-SW3-L3과 DC-SW4-L3의 동일 값 광고</a:t>
            </a:r>
            <a:endParaRPr lang="en-US" sz="2100" dirty="0"/>
          </a:p>
        </p:txBody>
      </p:sp>
      <p:sp>
        <p:nvSpPr>
          <p:cNvPr id="16" name="card-1"/>
          <p:cNvSpPr/>
          <p:nvPr/>
        </p:nvSpPr>
        <p:spPr>
          <a:xfrm>
            <a:off x="6492240" y="7016061"/>
            <a:ext cx="5303520" cy="1853619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6766560" y="7198941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Partner System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7656141"/>
            <a:ext cx="4754880" cy="1076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0c:00:a4:35:1b:54(DC-SW1-L2)</a:t>
            </a:r>
            <a:endParaRPr lang="en-US" sz="2100" dirty="0"/>
          </a:p>
        </p:txBody>
      </p:sp>
      <p:sp>
        <p:nvSpPr>
          <p:cNvPr id="19" name="card-2"/>
          <p:cNvSpPr/>
          <p:nvPr/>
        </p:nvSpPr>
        <p:spPr>
          <a:xfrm>
            <a:off x="12070080" y="7016061"/>
            <a:ext cx="5303520" cy="1853619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12344400" y="7198941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의미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0" y="7656141"/>
            <a:ext cx="4754880" cy="1076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 b="1">
                <a:solidFill>
                  <a:srgbClr val="0B2A5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DC-SW1-L2가 두 스위치를 하나의 LACP 파트너로 인식하여 Po10 구성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74</a:t>
            </a:fld>
            <a:endParaRPr lang="en-US" sz="1000"/>
          </a:p>
        </p:txBody>
      </p:sp>
      <p:grpSp>
        <p:nvGrpSpPr>
          <p:cNvPr id="22" name="set-1"/>
          <p:cNvGrpSpPr/>
          <p:nvPr/>
        </p:nvGrpSpPr>
        <p:grpSpPr>
          <a:xfrm>
            <a:off x="2050869" y="2228262"/>
            <a:ext cx="8731069" cy="384048"/>
            <a:chOff x="2050869" y="2228262"/>
            <a:chExt cx="8731069" cy="384048"/>
          </a:xfrm>
        </p:grpSpPr>
        <p:sp>
          <p:nvSpPr>
            <p:cNvPr id="6" name="highlight-1"/>
            <p:cNvSpPr/>
            <p:nvPr/>
          </p:nvSpPr>
          <p:spPr>
            <a:xfrm>
              <a:off x="2050869" y="2261181"/>
              <a:ext cx="8296221" cy="31821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0">
              <a:solidFill>
                <a:srgbClr val="024A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ag-1"/>
            <p:cNvSpPr/>
            <p:nvPr/>
          </p:nvSpPr>
          <p:spPr>
            <a:xfrm>
              <a:off x="10397890" y="2228262"/>
              <a:ext cx="384048" cy="384048"/>
            </a:xfrm>
            <a:prstGeom prst="roundRect">
              <a:avLst>
                <a:gd name="adj" fmla="val 9524"/>
              </a:avLst>
            </a:prstGeom>
            <a:solidFill>
              <a:srgbClr val="024AD8"/>
            </a:solidFill>
            <a:ln w="6350">
              <a:solidFill>
                <a:srgbClr val="024AD8"/>
              </a:solidFill>
              <a:prstDash val="solid"/>
            </a:ln>
          </p:spPr>
          <p:txBody>
            <a:bodyPr wrap="none" lIns="0" tIns="0" rIns="0" bIns="0" anchor="ctr"/>
            <a:lstStyle/>
            <a:p>
              <a:pPr algn="ctr"/>
              <a:r>
                <a:rPr sz="1800" b="0">
                  <a:solidFill>
                    <a:srgbClr val="FFFFFF"/>
                  </a:solidFill>
                  <a:latin typeface="Pretendard Medium"/>
                </a:rPr>
                <a:t>1</a:t>
              </a:r>
            </a:p>
          </p:txBody>
        </p:sp>
      </p:grpSp>
      <p:grpSp>
        <p:nvGrpSpPr>
          <p:cNvPr id="23" name="set-2"/>
          <p:cNvGrpSpPr/>
          <p:nvPr/>
        </p:nvGrpSpPr>
        <p:grpSpPr>
          <a:xfrm>
            <a:off x="2050869" y="5603574"/>
            <a:ext cx="8617422" cy="384048"/>
            <a:chOff x="2050869" y="5603574"/>
            <a:chExt cx="8617422" cy="384048"/>
          </a:xfrm>
        </p:grpSpPr>
        <p:sp>
          <p:nvSpPr>
            <p:cNvPr id="9" name="highlight-2"/>
            <p:cNvSpPr/>
            <p:nvPr/>
          </p:nvSpPr>
          <p:spPr>
            <a:xfrm>
              <a:off x="2050869" y="5625128"/>
              <a:ext cx="8182574" cy="3409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0">
              <a:solidFill>
                <a:srgbClr val="024A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ag-2"/>
            <p:cNvSpPr/>
            <p:nvPr/>
          </p:nvSpPr>
          <p:spPr>
            <a:xfrm>
              <a:off x="10284243" y="5603574"/>
              <a:ext cx="384048" cy="384048"/>
            </a:xfrm>
            <a:prstGeom prst="roundRect">
              <a:avLst>
                <a:gd name="adj" fmla="val 9524"/>
              </a:avLst>
            </a:prstGeom>
            <a:solidFill>
              <a:srgbClr val="024AD8"/>
            </a:solidFill>
            <a:ln w="6350">
              <a:solidFill>
                <a:srgbClr val="024AD8"/>
              </a:solidFill>
              <a:prstDash val="solid"/>
            </a:ln>
          </p:spPr>
          <p:txBody>
            <a:bodyPr wrap="none" lIns="0" tIns="0" rIns="0" bIns="0" anchor="ctr"/>
            <a:lstStyle/>
            <a:p>
              <a:pPr algn="ctr"/>
              <a:r>
                <a:rPr sz="1800" b="0">
                  <a:solidFill>
                    <a:srgbClr val="FFFFFF"/>
                  </a:solidFill>
                  <a:latin typeface="Pretendard Medium"/>
                </a:rPr>
                <a:t>2</a:t>
              </a:r>
            </a:p>
          </p:txBody>
        </p:sp>
      </p:grp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Arista · MLAG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Aruba-VRRP: 게이트웨이 이중화로 통신 유지(BR1)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8900000" y="19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60000" y="20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토폴로지 설계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60000" y="24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BR1-SW1-L3(Active, 110), BR1-SW2-L3(Standby, 90)가 VLAN 10, 20에 VRRP 구성, VIP 10.3.10.1, 10.3.20.1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8900000" y="427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60000" y="442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설계 기준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60000" y="483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게이트웨이 장애 시 Backup이 같은 VIP를 이어받아 호스트 설정 변경 없이 통신 유지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8900000" y="66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160000" y="67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벤더 확인사항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60000" y="71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Aruba AOS-CX: 전역 router vrrp enable 필수(없으면 INIT), 광고 공백 약 4.0초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77</a:t>
            </a:fld>
            <a:endParaRPr lang="en-US" sz="10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4085526" cy="690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1118676" y="4059240"/>
            <a:ext cx="3758683" cy="1103999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4400" y="4059240"/>
            <a:ext cx="300000" cy="3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cxnSp>
        <p:nvCxnSpPr>
          <p:cNvPr id="29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1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Aruba · VRRP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Aruba-VRRP: 장애 지점(BR1-SW1-L3)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Image 0" descr="imgj/c-vrrp-b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8686800" cy="5212080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828800"/>
            <a:ext cx="8686800" cy="52120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card-0"/>
          <p:cNvSpPr/>
          <p:nvPr/>
        </p:nvSpPr>
        <p:spPr>
          <a:xfrm>
            <a:off x="10515600" y="182880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1083564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대상 인터페이스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835640" y="246888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BR1-SW1-L3 ↔ BR1-SW2-L3 1/1/4(VRRP 광고 링크), BR1-SW1-L3의 vlan10</a:t>
            </a:r>
            <a:endParaRPr lang="en-US" sz="2100" dirty="0"/>
          </a:p>
        </p:txBody>
      </p:sp>
      <p:sp>
        <p:nvSpPr>
          <p:cNvPr id="12" name="card-1"/>
          <p:cNvSpPr/>
          <p:nvPr/>
        </p:nvSpPr>
        <p:spPr>
          <a:xfrm>
            <a:off x="10515600" y="417576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10835640" y="4358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장애 재현 절차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0835640" y="481584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BR1-SW1-L3 interface vlan 10 shutdown 후 no shutdown</a:t>
            </a:r>
            <a:endParaRPr lang="en-US" sz="2100" dirty="0"/>
          </a:p>
        </p:txBody>
      </p:sp>
      <p:sp>
        <p:nvSpPr>
          <p:cNvPr id="15" name="card-2"/>
          <p:cNvSpPr/>
          <p:nvPr/>
        </p:nvSpPr>
        <p:spPr>
          <a:xfrm>
            <a:off x="10515600" y="6522720"/>
            <a:ext cx="6858000" cy="20726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10835640" y="6705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모니터링 항목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0835640" y="7162800"/>
            <a:ext cx="621792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공백, Master 전환, preempt 복귀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78</a:t>
            </a:fld>
            <a:endParaRPr lang="en-US" sz="1000"/>
          </a:p>
        </p:txBody>
      </p:sp>
      <p:grpSp>
        <p:nvGrpSpPr>
          <p:cNvPr id="18" name="set-1"/>
          <p:cNvGrpSpPr/>
          <p:nvPr/>
        </p:nvGrpSpPr>
        <p:grpSpPr>
          <a:xfrm>
            <a:off x="3311957" y="3624682"/>
            <a:ext cx="3457346" cy="601674"/>
            <a:chOff x="3311957" y="3624682"/>
            <a:chExt cx="3457346" cy="601674"/>
          </a:xfrm>
        </p:grpSpPr>
        <p:sp>
          <p:nvSpPr>
            <p:cNvPr id="7" name="tag-1"/>
            <p:cNvSpPr/>
            <p:nvPr/>
          </p:nvSpPr>
          <p:spPr>
            <a:xfrm>
              <a:off x="4848606" y="3624682"/>
              <a:ext cx="384048" cy="384048"/>
            </a:xfrm>
            <a:prstGeom prst="roundRect">
              <a:avLst>
                <a:gd name="adj" fmla="val 9524"/>
              </a:avLst>
            </a:prstGeom>
            <a:solidFill>
              <a:srgbClr val="B3262B"/>
            </a:solidFill>
            <a:ln w="6350">
              <a:solidFill>
                <a:srgbClr val="B3262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agtext-1"/>
            <p:cNvSpPr txBox="1"/>
            <p:nvPr/>
          </p:nvSpPr>
          <p:spPr>
            <a:xfrm>
              <a:off x="4848606" y="362468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FFFFFF"/>
                  </a:solidFill>
                  <a:latin typeface="Pretendard Medium" pitchFamily="34" charset="0"/>
                  <a:ea typeface="Pretendard Medium" pitchFamily="34" charset="-122"/>
                  <a:cs typeface="Pretendard Medium" pitchFamily="34" charset="-120"/>
                </a:rPr>
                <a:t>1</a:t>
              </a:r>
              <a:endParaRPr lang="en-US" sz="1800" dirty="0"/>
            </a:p>
          </p:txBody>
        </p:sp>
        <p:sp>
          <p:nvSpPr>
            <p:cNvPr id="6" name="link-1"/>
            <p:cNvSpPr/>
            <p:nvPr/>
          </p:nvSpPr>
          <p:spPr>
            <a:xfrm flipV="1">
              <a:off x="3311957" y="4156862"/>
              <a:ext cx="3457346" cy="69494"/>
            </a:xfrm>
            <a:prstGeom prst="line">
              <a:avLst/>
            </a:prstGeom>
            <a:noFill/>
            <a:ln w="50800">
              <a:solidFill>
                <a:srgbClr val="B3262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</p:grp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Aruba · VRRP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Aruba-VRRP: 광고 공백 약 4.0초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image-frame"/>
          <p:cNvSpPr/>
          <p:nvPr/>
        </p:nvSpPr>
        <p:spPr>
          <a:xfrm>
            <a:off x="914400" y="1920240"/>
            <a:ext cx="15000000" cy="565714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14400" y="7627382"/>
            <a:ext cx="154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BR1-SW1-L3 ↔ BR1-SW2-L3, 필터 vrrp &amp;&amp; vlan.id == 10(2차 시험)</a:t>
            </a:r>
            <a:endParaRPr lang="en-US" sz="1800" dirty="0"/>
          </a:p>
        </p:txBody>
      </p:sp>
      <p:sp>
        <p:nvSpPr>
          <p:cNvPr id="7" name="card-0"/>
          <p:cNvSpPr/>
          <p:nvPr/>
        </p:nvSpPr>
        <p:spPr>
          <a:xfrm>
            <a:off x="914400" y="8077382"/>
            <a:ext cx="4933333" cy="13716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1234440" y="8260262"/>
            <a:ext cx="42932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SW-1 마지막 광고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8717462"/>
            <a:ext cx="429325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47.47초(10.3.10.2). 1차 41.37초</a:t>
            </a:r>
            <a:endParaRPr lang="en-US" sz="2100" dirty="0"/>
          </a:p>
        </p:txBody>
      </p:sp>
      <p:sp>
        <p:nvSpPr>
          <p:cNvPr id="10" name="card-1"/>
          <p:cNvSpPr/>
          <p:nvPr/>
        </p:nvSpPr>
        <p:spPr>
          <a:xfrm>
            <a:off x="6147733" y="8077382"/>
            <a:ext cx="4933333" cy="13716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467773" y="8260262"/>
            <a:ext cx="42932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SW-2 첫 광고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67773" y="8717462"/>
            <a:ext cx="429325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51.47초(10.3.10.3). 1차 45.35초</a:t>
            </a:r>
            <a:endParaRPr lang="en-US" sz="2100" dirty="0"/>
          </a:p>
        </p:txBody>
      </p:sp>
      <p:sp>
        <p:nvSpPr>
          <p:cNvPr id="13" name="card-2"/>
          <p:cNvSpPr/>
          <p:nvPr/>
        </p:nvSpPr>
        <p:spPr>
          <a:xfrm>
            <a:off x="11381066" y="8077382"/>
            <a:ext cx="4933333" cy="13716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1701106" y="8260262"/>
            <a:ext cx="42932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광고 공백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701106" y="8717462"/>
            <a:ext cx="429325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 b="1">
                <a:solidFill>
                  <a:srgbClr val="0B2A5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2차 약 4.00초, 1차 약 3.97초(재현 확인). ping 손실은 복구 구간 포함이라 제외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80</a:t>
            </a:fld>
            <a:endParaRPr lang="en-US" sz="1000"/>
          </a:p>
        </p:txBody>
      </p:sp>
      <p:cxnSp>
        <p:nvCxnSpPr>
          <p:cNvPr id="34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6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Aruba · VRRP</a:t>
            </a:r>
          </a:p>
        </p:txBody>
      </p:sp>
      <p:pic>
        <p:nvPicPr>
          <p:cNvPr id="37" name="Picture 36" descr="br1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20240"/>
            <a:ext cx="15000000" cy="5657142"/>
          </a:xfrm>
          <a:prstGeom prst="rect">
            <a:avLst/>
          </a:prstGeom>
        </p:spPr>
      </p:pic>
      <p:sp>
        <p:nvSpPr>
          <p:cNvPr id="38" name="hl-box-1"/>
          <p:cNvSpPr/>
          <p:nvPr/>
        </p:nvSpPr>
        <p:spPr>
          <a:xfrm>
            <a:off x="914400" y="6048525"/>
            <a:ext cx="15000000" cy="314857"/>
          </a:xfrm>
          <a:prstGeom prst="rect">
            <a:avLst/>
          </a:prstGeom>
          <a:solidFill>
            <a:srgbClr val="424A61">
              <a:alpha val="55000"/>
            </a:srgbClr>
          </a:solidFill>
          <a:ln w="28575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l-tag-1"/>
          <p:cNvSpPr/>
          <p:nvPr/>
        </p:nvSpPr>
        <p:spPr>
          <a:xfrm>
            <a:off x="624400" y="6034525"/>
            <a:ext cx="230000" cy="23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0" name="hl-box-2"/>
          <p:cNvSpPr/>
          <p:nvPr/>
        </p:nvSpPr>
        <p:spPr>
          <a:xfrm>
            <a:off x="914400" y="6391382"/>
            <a:ext cx="15000000" cy="314857"/>
          </a:xfrm>
          <a:prstGeom prst="rect">
            <a:avLst/>
          </a:prstGeom>
          <a:solidFill>
            <a:srgbClr val="024AD8">
              <a:alpha val="40000"/>
            </a:srgbClr>
          </a:solidFill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l-tag-2"/>
          <p:cNvSpPr/>
          <p:nvPr/>
        </p:nvSpPr>
        <p:spPr>
          <a:xfrm>
            <a:off x="624400" y="6377382"/>
            <a:ext cx="230000" cy="23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Aruba-MSTP: 게이트웨이와 L2 루트 일치(BR1)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8900000" y="192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60000" y="203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토폴로지 설계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60000" y="242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region br1, instance 1에 VLAN 10, 20, 100 매핑, 루트 BR1-SW1-L3(4096), 보조 루트 BR1-SW2-L3(8192)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8900000" y="367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ard-1"/>
          <p:cNvSpPr/>
          <p:nvPr/>
        </p:nvSpPr>
        <p:spPr>
          <a:xfrm>
            <a:off x="8900000" y="542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60000" y="378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설계 기준</a:t>
            </a:r>
            <a:endParaRPr lang="en-US" sz="1800" dirty="0"/>
          </a:p>
        </p:txBody>
      </p:sp>
      <p:sp>
        <p:nvSpPr>
          <p:cNvPr id="14" name="Text 6"/>
          <p:cNvSpPr txBox="1"/>
          <p:nvPr/>
        </p:nvSpPr>
        <p:spPr>
          <a:xfrm>
            <a:off x="9160000" y="553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주요 설정 (Configuration)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60000" y="417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게이트웨이와 L2 루트를 같은 스위치로 맞춰 우회 경로 방지, 3벤더 공통 표준</a:t>
            </a:r>
            <a:endParaRPr lang="en-US" sz="2100" dirty="0"/>
          </a:p>
        </p:txBody>
      </p:sp>
      <p:sp>
        <p:nvSpPr>
          <p:cNvPr id="15" name="Text 7"/>
          <p:cNvSpPr txBox="1"/>
          <p:nvPr/>
        </p:nvSpPr>
        <p:spPr>
          <a:xfrm>
            <a:off x="9160000" y="592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spanning-tree mode mstp, config-name br1, config-revision 1, instance 1 vlan 10,20,100, instance 1 priority 1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8900000" y="7170240"/>
            <a:ext cx="847000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160000" y="728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상태 검증 (Verification)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60000" y="7670240"/>
            <a:ext cx="79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 spanning-tree mst: Bridge=Root 08:00:09:48:bf:8f priority 4096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81</a:t>
            </a:fld>
            <a:endParaRPr lang="en-US" sz="10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4085526" cy="690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1118676" y="3990240"/>
            <a:ext cx="3799539" cy="2898000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4400" y="3990240"/>
            <a:ext cx="300000" cy="3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cxnSp>
        <p:nvCxnSpPr>
          <p:cNvPr id="29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1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Aruba · MSTP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Aruba-VLAN: 트렁크 태그로 VLAN 구분(BR1)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8900000" y="19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60000" y="20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적용 기술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60000" y="24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VLAN 10(PUBLIC)과 20(PRIVATE)으로 대역 구분, DC는 서버 VLAN 50, 관리 VLAN 100, 모든 트렁크 native VLAN 999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8900000" y="427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60000" y="442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기준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60000" y="483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대역과 내부 대역 트래픽 분리, 트렁크는 필요한 VLAN(10,20,100)만 허용하고 native를 사용자 VLAN과 분리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8900000" y="6620240"/>
            <a:ext cx="8470000" cy="22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160000" y="6770240"/>
            <a:ext cx="795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결과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60000" y="7180240"/>
            <a:ext cx="795000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트렁크 구간은 802.1Q 태그 부착, 호스트 접속(access) 포트는 태그 제거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82</a:t>
            </a:fld>
            <a:endParaRPr lang="en-US" sz="10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4085526" cy="690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1118676" y="4059240"/>
            <a:ext cx="3799539" cy="2829000"/>
          </a:xfrm>
          <a:prstGeom prst="rect">
            <a:avLst/>
          </a:prstGeom>
          <a:noFill/>
          <a:ln w="2857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4400" y="4059240"/>
            <a:ext cx="300000" cy="3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cxnSp>
        <p:nvCxnSpPr>
          <p:cNvPr id="29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1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Aruba · VLAN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Aruba-VLAN: 트렁크의 802.1Q 태그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Image 0" descr="imgj/rw-vlan10.jpg"/>
          <p:cNvPicPr>
            <a:picLocks noChangeAspect="1"/>
          </p:cNvPicPr>
          <p:nvPr/>
        </p:nvPicPr>
        <p:blipFill>
          <a:blip r:embed="rId2"/>
          <a:srcRect l="500" t="5840" r="62000" b="84316"/>
          <a:stretch>
            <a:fillRect/>
          </a:stretch>
        </p:blipFill>
        <p:spPr>
          <a:xfrm>
            <a:off x="914400" y="1920240"/>
            <a:ext cx="15400000" cy="3155144"/>
          </a:xfrm>
          <a:prstGeom prst="rect">
            <a:avLst/>
          </a:prstGeom>
        </p:spPr>
      </p:pic>
      <p:sp>
        <p:nvSpPr>
          <p:cNvPr id="5" name="image-frame"/>
          <p:cNvSpPr/>
          <p:nvPr/>
        </p:nvSpPr>
        <p:spPr>
          <a:xfrm>
            <a:off x="914400" y="1920240"/>
            <a:ext cx="15400000" cy="315514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914400" y="5165384"/>
            <a:ext cx="154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BR1-SW1-L3 1/1/5 ↔ BR1-SW3-L3 1/1/1, 필터 vlan.id == 10</a:t>
            </a:r>
            <a:endParaRPr lang="en-US" sz="1800" dirty="0"/>
          </a:p>
        </p:txBody>
      </p:sp>
      <p:sp>
        <p:nvSpPr>
          <p:cNvPr id="13" name="card-0"/>
          <p:cNvSpPr/>
          <p:nvPr/>
        </p:nvSpPr>
        <p:spPr>
          <a:xfrm>
            <a:off x="914400" y="5826864"/>
            <a:ext cx="4933333" cy="13716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234440" y="6009744"/>
            <a:ext cx="42932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802.1Q Virtual LAN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6466944"/>
            <a:ext cx="429325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10(VLAN 10 태그)</a:t>
            </a:r>
            <a:endParaRPr lang="en-US" sz="2100" dirty="0"/>
          </a:p>
        </p:txBody>
      </p:sp>
      <p:sp>
        <p:nvSpPr>
          <p:cNvPr id="16" name="card-1"/>
          <p:cNvSpPr/>
          <p:nvPr/>
        </p:nvSpPr>
        <p:spPr>
          <a:xfrm>
            <a:off x="6147733" y="5826864"/>
            <a:ext cx="4933333" cy="13716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6467773" y="6009744"/>
            <a:ext cx="42932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ARP Announcement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67773" y="6466944"/>
            <a:ext cx="429325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BR1-SW1-L3(10.3.10.2)의 VIP와 SVI 주소 광고</a:t>
            </a:r>
            <a:endParaRPr lang="en-US" sz="2100" dirty="0"/>
          </a:p>
        </p:txBody>
      </p:sp>
      <p:sp>
        <p:nvSpPr>
          <p:cNvPr id="19" name="card-2"/>
          <p:cNvSpPr/>
          <p:nvPr/>
        </p:nvSpPr>
        <p:spPr>
          <a:xfrm>
            <a:off x="11381066" y="5826864"/>
            <a:ext cx="4933333" cy="13716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11701106" y="6009744"/>
            <a:ext cx="42932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의미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1701106" y="6466944"/>
            <a:ext cx="429325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트렁크 구간은 802.1Q 태그로 VLAN 구분, 호스트 링크는 태그 없음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83</a:t>
            </a:fld>
            <a:endParaRPr lang="en-US" sz="1000"/>
          </a:p>
        </p:txBody>
      </p:sp>
      <p:grpSp>
        <p:nvGrpSpPr>
          <p:cNvPr id="22" name="set-1"/>
          <p:cNvGrpSpPr/>
          <p:nvPr/>
        </p:nvGrpSpPr>
        <p:grpSpPr>
          <a:xfrm>
            <a:off x="1731175" y="2873346"/>
            <a:ext cx="13351223" cy="583397"/>
            <a:chOff x="1731175" y="2873346"/>
            <a:chExt cx="13351223" cy="583397"/>
          </a:xfrm>
        </p:grpSpPr>
        <p:sp>
          <p:nvSpPr>
            <p:cNvPr id="6" name="highlight-1"/>
            <p:cNvSpPr/>
            <p:nvPr/>
          </p:nvSpPr>
          <p:spPr>
            <a:xfrm>
              <a:off x="2146399" y="2881814"/>
              <a:ext cx="12935999" cy="57492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0">
              <a:solidFill>
                <a:srgbClr val="024A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ag-1"/>
            <p:cNvSpPr/>
            <p:nvPr/>
          </p:nvSpPr>
          <p:spPr>
            <a:xfrm>
              <a:off x="1731175" y="2873346"/>
              <a:ext cx="384048" cy="384048"/>
            </a:xfrm>
            <a:prstGeom prst="roundRect">
              <a:avLst>
                <a:gd name="adj" fmla="val 9524"/>
              </a:avLst>
            </a:prstGeom>
            <a:solidFill>
              <a:srgbClr val="024AD8"/>
            </a:solidFill>
            <a:ln w="6350">
              <a:solidFill>
                <a:srgbClr val="024AD8"/>
              </a:solidFill>
              <a:prstDash val="solid"/>
            </a:ln>
          </p:spPr>
          <p:txBody>
            <a:bodyPr wrap="none" lIns="0" tIns="0" rIns="0" bIns="0" anchor="ctr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Pretendard Medium"/>
                </a:rPr>
                <a:t>1</a:t>
              </a:r>
            </a:p>
          </p:txBody>
        </p:sp>
      </p:grpSp>
      <p:grpSp>
        <p:nvGrpSpPr>
          <p:cNvPr id="23" name="set-2"/>
          <p:cNvGrpSpPr/>
          <p:nvPr/>
        </p:nvGrpSpPr>
        <p:grpSpPr>
          <a:xfrm>
            <a:off x="2146399" y="3538882"/>
            <a:ext cx="13414723" cy="574925"/>
            <a:chOff x="2146399" y="3538882"/>
            <a:chExt cx="13414723" cy="574925"/>
          </a:xfrm>
        </p:grpSpPr>
        <p:sp>
          <p:nvSpPr>
            <p:cNvPr id="9" name="highlight-2"/>
            <p:cNvSpPr/>
            <p:nvPr/>
          </p:nvSpPr>
          <p:spPr>
            <a:xfrm>
              <a:off x="2146399" y="3538882"/>
              <a:ext cx="12935999" cy="57492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0">
              <a:solidFill>
                <a:srgbClr val="024A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ag-2"/>
            <p:cNvSpPr/>
            <p:nvPr/>
          </p:nvSpPr>
          <p:spPr>
            <a:xfrm>
              <a:off x="15177074" y="3703032"/>
              <a:ext cx="384048" cy="384048"/>
            </a:xfrm>
            <a:prstGeom prst="roundRect">
              <a:avLst>
                <a:gd name="adj" fmla="val 9524"/>
              </a:avLst>
            </a:prstGeom>
            <a:solidFill>
              <a:srgbClr val="024AD8"/>
            </a:solidFill>
            <a:ln w="6350">
              <a:solidFill>
                <a:srgbClr val="024AD8"/>
              </a:solidFill>
              <a:prstDash val="solid"/>
            </a:ln>
          </p:spPr>
          <p:txBody>
            <a:bodyPr wrap="none" lIns="0" tIns="0" rIns="0" bIns="0" anchor="ctr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Pretendard Medium"/>
                </a:rPr>
                <a:t>2</a:t>
              </a:r>
            </a:p>
          </p:txBody>
        </p:sp>
      </p:grp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Aruba · VLAN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-frame"/>
          <p:cNvSpPr/>
          <p:nvPr/>
        </p:nvSpPr>
        <p:spPr>
          <a:xfrm>
            <a:off x="914400" y="1920240"/>
            <a:ext cx="15500000" cy="370622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Aruba-LAG: show lacp interfaces(복구 후)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676461"/>
            <a:ext cx="100045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BR1-SW1-L3 LACP 인터페이스(복구 후)</a:t>
            </a:r>
            <a:endParaRPr lang="en-US" sz="1800" dirty="0"/>
          </a:p>
        </p:txBody>
      </p:sp>
      <p:sp>
        <p:nvSpPr>
          <p:cNvPr id="7" name="card-0"/>
          <p:cNvSpPr/>
          <p:nvPr/>
        </p:nvSpPr>
        <p:spPr>
          <a:xfrm>
            <a:off x="914400" y="7450000"/>
            <a:ext cx="530352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1188720" y="7580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7950000"/>
            <a:ext cx="47548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 lacp interfaces</a:t>
            </a:r>
            <a:endParaRPr lang="en-US" sz="2100" dirty="0"/>
          </a:p>
        </p:txBody>
      </p:sp>
      <p:sp>
        <p:nvSpPr>
          <p:cNvPr id="10" name="card-1"/>
          <p:cNvSpPr/>
          <p:nvPr/>
        </p:nvSpPr>
        <p:spPr>
          <a:xfrm>
            <a:off x="6492240" y="7450000"/>
            <a:ext cx="530352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766560" y="7580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7950000"/>
            <a:ext cx="47548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1/1/3, 1/1/4 State ALFNCD, Forwarding up</a:t>
            </a:r>
            <a:endParaRPr lang="en-US" sz="2100" dirty="0"/>
          </a:p>
        </p:txBody>
      </p:sp>
      <p:sp>
        <p:nvSpPr>
          <p:cNvPr id="13" name="card-2"/>
          <p:cNvSpPr/>
          <p:nvPr/>
        </p:nvSpPr>
        <p:spPr>
          <a:xfrm>
            <a:off x="12070080" y="7450000"/>
            <a:ext cx="5303520" cy="160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2344400" y="7580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b="1">
                <a:solidFill>
                  <a:srgbClr val="1580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결과 (정상 수립)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0" y="7950000"/>
            <a:ext cx="475488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포</a:t>
            </a:r>
            <a:r>
              <a:rPr lang="ko-KR" altLang="en-US" sz="2000" dirty="0" err="1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</a:t>
            </a: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ALFNCD, up, Partner 08:00:09:ff:26:f3, Key 1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86</a:t>
            </a:fld>
            <a:endParaRPr lang="en-US" sz="1000"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"/>
          <a:srcRect t="45372" b="26679"/>
          <a:stretch>
            <a:fillRect/>
          </a:stretch>
        </p:blipFill>
        <p:spPr>
          <a:xfrm>
            <a:off x="914400" y="1920240"/>
            <a:ext cx="15500000" cy="2121777"/>
          </a:xfrm>
          <a:prstGeom prst="rect">
            <a:avLst/>
          </a:prstGeom>
        </p:spPr>
      </p:pic>
      <p:sp>
        <p:nvSpPr>
          <p:cNvPr id="28" name="hl-box-1"/>
          <p:cNvSpPr/>
          <p:nvPr/>
        </p:nvSpPr>
        <p:spPr>
          <a:xfrm>
            <a:off x="914400" y="2428639"/>
            <a:ext cx="15500000" cy="774311"/>
          </a:xfrm>
          <a:prstGeom prst="rect">
            <a:avLst/>
          </a:prstGeom>
          <a:noFill/>
          <a:ln w="2222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hl-tag-1"/>
          <p:cNvSpPr/>
          <p:nvPr/>
        </p:nvSpPr>
        <p:spPr>
          <a:xfrm>
            <a:off x="474400" y="2498906"/>
            <a:ext cx="400000" cy="4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2"/>
          <a:srcRect t="82033"/>
          <a:stretch>
            <a:fillRect/>
          </a:stretch>
        </p:blipFill>
        <p:spPr>
          <a:xfrm>
            <a:off x="914400" y="4262461"/>
            <a:ext cx="15500000" cy="1364000"/>
          </a:xfrm>
          <a:prstGeom prst="rect">
            <a:avLst/>
          </a:prstGeom>
        </p:spPr>
      </p:pic>
      <p:sp>
        <p:nvSpPr>
          <p:cNvPr id="31" name="hl-box-2"/>
          <p:cNvSpPr/>
          <p:nvPr/>
        </p:nvSpPr>
        <p:spPr>
          <a:xfrm>
            <a:off x="914400" y="4743305"/>
            <a:ext cx="15500000" cy="774311"/>
          </a:xfrm>
          <a:prstGeom prst="rect">
            <a:avLst/>
          </a:prstGeom>
          <a:noFill/>
          <a:ln w="22225">
            <a:solidFill>
              <a:srgbClr val="024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hl-tag-2"/>
          <p:cNvSpPr/>
          <p:nvPr/>
        </p:nvSpPr>
        <p:spPr>
          <a:xfrm>
            <a:off x="474400" y="4813572"/>
            <a:ext cx="400000" cy="400000"/>
          </a:xfrm>
          <a:prstGeom prst="rect">
            <a:avLst/>
          </a:prstGeom>
          <a:solidFill>
            <a:srgbClr val="02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cxnSp>
        <p:nvCxnSpPr>
          <p:cNvPr id="33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5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Aruba · LAG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Aruba-DHCP: 풀 분담으로 1대 장애에도 임대 지속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914400" y="2011680"/>
            <a:ext cx="786384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234440" y="2194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기술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5176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VLAN 게이트웨이 스위치 2대가 같은 서브넷의 풀을 절반씩 분담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914400" y="4297680"/>
            <a:ext cx="786384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234440" y="4480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기준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93776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중복 할당 방지, 1대 장애 시 나머지 1대의 임대 지속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914400" y="6583680"/>
            <a:ext cx="786384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234440" y="6766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722376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 64개 Active(.100~.163), 뒤 64개 Standby(.164~.227)</a:t>
            </a:r>
            <a:endParaRPr lang="en-US" sz="21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26880" y="2011680"/>
          <a:ext cx="8046720" cy="3931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사이트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임대 서버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받은 주소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Offer 수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HQ(Cisco)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HQ-SW-2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10.1.10.100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2개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BR2(Cisco)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BR2-SW2-L3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10.4.10.164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2개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BR1(Aruba)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BR1-SW1-L3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10.3.10.153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3개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9326880" y="6217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도착한 Offer로 임대, lease 86400초(1일)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87</a:t>
            </a:fld>
            <a:endParaRPr lang="en-US" sz="1000"/>
          </a:p>
        </p:txBody>
      </p:sp>
      <p:cxnSp>
        <p:nvCxnSpPr>
          <p:cNvPr id="50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52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Aruba · DHCP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Aruba-DHCP: VIP 출발지 포함 Offer 3개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16459200" cy="3931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프레임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출발지 IP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Ethernet 출발지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Server Identifier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제안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611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10.3.10.2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SW-1 포트 MAC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10.3.10.2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10.3.10.153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613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10.3.10.1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VRRP 가상 MAC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10.3.10.1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10.3.10.153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619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10.3.10.3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SW-2 포트 MAC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10.3.10.3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10.3.10.217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rd-0"/>
          <p:cNvSpPr/>
          <p:nvPr/>
        </p:nvSpPr>
        <p:spPr>
          <a:xfrm>
            <a:off x="914400" y="6502160"/>
            <a:ext cx="1645920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1234440" y="668504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결과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7142240"/>
            <a:ext cx="1581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Offer 613은 VRRP VIP(10.3.10.1) 출발지, Ethernet 출발지는 VRRP 가상 MAC(00:00:5e:00:01:0a). Cisco(HQ, BR2)에는 VIP 출발지 Offer 없음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88</a:t>
            </a:fld>
            <a:endParaRPr lang="en-US" sz="1000"/>
          </a:p>
        </p:txBody>
      </p:sp>
      <p:cxnSp>
        <p:nvCxnSpPr>
          <p:cNvPr id="52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54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Aruba · DHCP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비교: 벤더별 VRRP 전환 시간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tat-0"/>
          <p:cNvSpPr/>
          <p:nvPr/>
        </p:nvSpPr>
        <p:spPr>
          <a:xfrm>
            <a:off x="914400" y="2103120"/>
            <a:ext cx="5242560" cy="29260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460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약 0.19초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712464"/>
            <a:ext cx="460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Cisco HQ, 장비 로그 기준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ping 손실 1개</a:t>
            </a:r>
            <a:endParaRPr lang="en-US" sz="1800" dirty="0"/>
          </a:p>
        </p:txBody>
      </p:sp>
      <p:sp>
        <p:nvSpPr>
          <p:cNvPr id="7" name="stat-1"/>
          <p:cNvSpPr/>
          <p:nvPr/>
        </p:nvSpPr>
        <p:spPr>
          <a:xfrm>
            <a:off x="6522720" y="2103120"/>
            <a:ext cx="5242560" cy="29260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842760" y="2286000"/>
            <a:ext cx="460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약 3.2초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842760" y="3712464"/>
            <a:ext cx="460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Arista DC, 광고 공백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ping 손실 5개</a:t>
            </a:r>
            <a:endParaRPr lang="en-US" sz="1800" dirty="0"/>
          </a:p>
        </p:txBody>
      </p:sp>
      <p:sp>
        <p:nvSpPr>
          <p:cNvPr id="10" name="stat-2"/>
          <p:cNvSpPr/>
          <p:nvPr/>
        </p:nvSpPr>
        <p:spPr>
          <a:xfrm>
            <a:off x="12131040" y="2103120"/>
            <a:ext cx="5242560" cy="29260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2451080" y="2286000"/>
            <a:ext cx="460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약 4.0초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12451080" y="3712464"/>
            <a:ext cx="460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Aruba BR1, 광고 공백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ping 손실은 복구 포함 값으로 제외</a:t>
            </a:r>
            <a:endParaRPr lang="en-US" sz="1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5212080"/>
          <a:ext cx="16459200" cy="31089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벤더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대상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전환 방식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복귀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Cisco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HQ-SW-2, HQ-SW-3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Vl10 shutdown 후 Backup의 Master 전환, 장비 로그 약 0.19초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preempt 복귀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Arista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DC-SW3-L3, DC-SW4-L3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Vl50 shutdown, 광고 공백 후 전환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preempt 복귀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Aruba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BR1-SW1-L3, BR1-SW2-L3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vlan10 shutdown, 광고 공백 후 전환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preempt 복귀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914400" y="86868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방식 차이: Cisco는 장비 로그, Arista와 Aruba는 Wireshark 광고 공백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92</a:t>
            </a:fld>
            <a:endParaRPr lang="en-US" sz="1000"/>
          </a:p>
        </p:txBody>
      </p:sp>
      <p:cxnSp>
        <p:nvCxnSpPr>
          <p:cNvPr id="43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45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벤더 비교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비교: MST 3벤더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16459200" cy="39319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벤더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영역 이름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revision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인스턴스 1 VLAN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루트 우선순위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Cisco(HQ)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hq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10, 20, 100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4096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Arista(DC)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50, 100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4096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Aruba(BR1)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br1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10, 20, 100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4096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rd-0"/>
          <p:cNvSpPr/>
          <p:nvPr/>
        </p:nvSpPr>
        <p:spPr>
          <a:xfrm>
            <a:off x="914400" y="6500000"/>
            <a:ext cx="16459200" cy="173736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1234440" y="668288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결과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7140080"/>
            <a:ext cx="1581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HQ와 BR1은 이름이 달라도 BPDU digest 동일, 인스턴스 1의 VLAN 10, 20, 100 매핑이 같음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93</a:t>
            </a:fld>
            <a:endParaRPr lang="en-US" sz="1000"/>
          </a:p>
        </p:txBody>
      </p:sp>
      <p:cxnSp>
        <p:nvCxnSpPr>
          <p:cNvPr id="104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106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벤더 비교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비교: EtherChannel과 MLAG 차이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16459200" cy="4900000"/>
        </p:xfrm>
        <a:graphic>
          <a:graphicData uri="http://schemas.openxmlformats.org/drawingml/2006/table">
            <a:tbl>
              <a:tblPr/>
              <a:tblGrid>
                <a:gridCol w="2962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구분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EtherChannel(LACP)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MLAG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묶는 대상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두 장비 사이의 링크 여러 개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스위치 2대와 상대 스위치 1대 사이의 링크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상대 장비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쪽이 반드시 1대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 스위치를 하나로 보고 포트채널 형성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해결하는 문제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링크 한 개 장애, 대역폭 합산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스위치 한 대 장애, MSTP의 업링크 차단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프로토콜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LACP(channel-group mode active)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LACP + MLAG 도메인, peer-link, VLAN 4094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 프로젝트 적용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HQ Po1~Po3, BR1 LAG, DC peer-link Po1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DC-SW3-L3, DC-SW4-L3와 DC-SW1·2-L2의 Po10, Po20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상태 확인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show port-channel, show lacp peer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show mlag, show mlag detail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-0"/>
          <p:cNvSpPr/>
          <p:nvPr/>
        </p:nvSpPr>
        <p:spPr>
          <a:xfrm>
            <a:off x="914400" y="7450000"/>
            <a:ext cx="16459200" cy="128016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1234440" y="763300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차이</a:t>
            </a:r>
            <a:endParaRPr lang="en-US" sz="1800" dirty="0"/>
          </a:p>
        </p:txBody>
      </p:sp>
      <p:sp>
        <p:nvSpPr>
          <p:cNvPr id="4" name="Text 4"/>
          <p:cNvSpPr txBox="1"/>
          <p:nvPr/>
        </p:nvSpPr>
        <p:spPr>
          <a:xfrm>
            <a:off x="1234440" y="8090000"/>
            <a:ext cx="1581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EtherChannel은 두 장비 사이, MLAG는 두 스위치를 하나처럼 보이게 해 장비 단위 이중화까지 제공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94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벤더 비교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비교: 링크 다운 영향의 벤더별 차이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tat-0"/>
          <p:cNvSpPr/>
          <p:nvPr/>
        </p:nvSpPr>
        <p:spPr>
          <a:xfrm>
            <a:off x="914400" y="2103120"/>
            <a:ext cx="5242560" cy="29260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460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1개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712464"/>
            <a:ext cx="460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HQ Po1(Cisco)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ping 손실</a:t>
            </a:r>
            <a:endParaRPr lang="en-US" sz="1800" dirty="0"/>
          </a:p>
        </p:txBody>
      </p:sp>
      <p:sp>
        <p:nvSpPr>
          <p:cNvPr id="7" name="stat-1"/>
          <p:cNvSpPr/>
          <p:nvPr/>
        </p:nvSpPr>
        <p:spPr>
          <a:xfrm>
            <a:off x="6522720" y="2103120"/>
            <a:ext cx="5242560" cy="29260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842760" y="2286000"/>
            <a:ext cx="460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5개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842760" y="3712464"/>
            <a:ext cx="460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BR1 LAG 1(Aruba)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응답 5015 ms</a:t>
            </a:r>
            <a:endParaRPr lang="en-US" sz="1800" dirty="0"/>
          </a:p>
        </p:txBody>
      </p:sp>
      <p:sp>
        <p:nvSpPr>
          <p:cNvPr id="10" name="stat-2"/>
          <p:cNvSpPr/>
          <p:nvPr/>
        </p:nvSpPr>
        <p:spPr>
          <a:xfrm>
            <a:off x="12131040" y="2103120"/>
            <a:ext cx="5242560" cy="29260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2451080" y="2286000"/>
            <a:ext cx="460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1개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12451080" y="3712464"/>
            <a:ext cx="460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 MLAG(Arista)</a:t>
            </a:r>
            <a:endParaRPr lang="en-US" sz="1800" dirty="0"/>
          </a:p>
          <a:p>
            <a:pPr marL="0" indent="0">
              <a:buNone/>
            </a:pPr>
            <a:r>
              <a:rPr lang="en-US" sz="20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복구 후 Active-full 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95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03 벤더별 차이  /  </a:t>
            </a:r>
            <a:r>
              <a:rPr sz="1600">
                <a:solidFill>
                  <a:srgbClr val="024AD8"/>
                </a:solidFill>
                <a:latin typeface="Pretendard Medium"/>
              </a:rPr>
              <a:t>벤더 비교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914400" y="29260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38912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트러블슈팅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66928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설계와 달랐던 점과 해결</a:t>
            </a:r>
            <a:endParaRPr lang="en-US" sz="27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96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설계와 달랐던 10건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16459200" cy="67208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분류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항목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상태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장비 한계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Arista vEOS-lab 인터페이스 ACL 미지원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변경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구성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OSPF 프로세스 간 router-id 충돌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해결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설계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QoS DSCP 매치의 DNS 미분류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변경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시험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BR1 L2 루프와 VRRP 광고 폭주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B4530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조치 완료, 근본 원인 미확인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시험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Hub 장애 후 shortcut ESP 약 44초 뒤 중단(traceroute 5홉 → 8홉)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기대 결과를 실측에 맞게 수정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명령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장비별 미지원, 오기 명령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해결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그 밖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DMVPN 터널 생성 순서, QoS 첫 질의 타임아웃, 완료 처리 시점, Actions 경로 필터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기록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97</a:t>
            </a:fld>
            <a:endParaRPr lang="en-US" sz="1000"/>
          </a:p>
        </p:txBody>
      </p:sp>
      <p:cxnSp>
        <p:nvCxnSpPr>
          <p:cNvPr id="10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10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04 트러블슈팅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router-id: 프로세스와 무관한 장비 내 유일성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ard-0"/>
          <p:cNvSpPr/>
          <p:nvPr/>
        </p:nvSpPr>
        <p:spPr>
          <a:xfrm>
            <a:off x="914400" y="2011680"/>
            <a:ext cx="1645920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234440" y="219456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현상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51760"/>
            <a:ext cx="1581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Private Internet OSPF process 2에 동일 router-id 지정 시 IOS가 "in use by ospf process N"으로 거부</a:t>
            </a:r>
            <a:endParaRPr lang="en-US" sz="2100" dirty="0"/>
          </a:p>
        </p:txBody>
      </p:sp>
      <p:sp>
        <p:nvSpPr>
          <p:cNvPr id="7" name="card-1"/>
          <p:cNvSpPr/>
          <p:nvPr/>
        </p:nvSpPr>
        <p:spPr>
          <a:xfrm>
            <a:off x="914400" y="4297680"/>
            <a:ext cx="1645920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234440" y="448056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가정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937760"/>
            <a:ext cx="1581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 번호가 다르면 router-id 중복 가능으로 판단</a:t>
            </a:r>
            <a:endParaRPr lang="en-US" sz="2100" dirty="0"/>
          </a:p>
        </p:txBody>
      </p:sp>
      <p:sp>
        <p:nvSpPr>
          <p:cNvPr id="10" name="card-2"/>
          <p:cNvSpPr/>
          <p:nvPr/>
        </p:nvSpPr>
        <p:spPr>
          <a:xfrm>
            <a:off x="914400" y="6583680"/>
            <a:ext cx="16459200" cy="201168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234440" y="6766560"/>
            <a:ext cx="1581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방안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7223760"/>
            <a:ext cx="1581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 b="1">
                <a:solidFill>
                  <a:srgbClr val="0B2A5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PI 쪽 router-id를 해당 PI 링크 IP(203.0.113.1, .5, .9, .13, .17)로 변경, 설정과 문서 정정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98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04 트러블슈팅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BR1 L2 루프: VRRP 광고 초당 약 190개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image-frame"/>
          <p:cNvSpPr/>
          <p:nvPr/>
        </p:nvSpPr>
        <p:spPr>
          <a:xfrm>
            <a:off x="914400" y="1920240"/>
            <a:ext cx="8500000" cy="38250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14400" y="5795240"/>
            <a:ext cx="85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폭주 초기 Wireshark(vrrp), 증상: 호스트 ping 100% 손실, Backup의 Master 전환 불가</a:t>
            </a:r>
            <a:endParaRPr lang="en-US" sz="1800" dirty="0"/>
          </a:p>
        </p:txBody>
      </p:sp>
      <p:sp>
        <p:nvSpPr>
          <p:cNvPr id="7" name="card-0"/>
          <p:cNvSpPr/>
          <p:nvPr/>
        </p:nvSpPr>
        <p:spPr>
          <a:xfrm>
            <a:off x="9750000" y="1920240"/>
            <a:ext cx="7620000" cy="113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9950000" y="1970240"/>
            <a:ext cx="72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시간 간격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950000" y="2260240"/>
            <a:ext cx="722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Time 열: 약 0.056초(5.2468 ~ 5.3027) 안에 광고 18개, 정상은 1초 간격</a:t>
            </a:r>
            <a:endParaRPr lang="en-US" sz="2100" dirty="0"/>
          </a:p>
        </p:txBody>
      </p:sp>
      <p:sp>
        <p:nvSpPr>
          <p:cNvPr id="4" name="card-0"/>
          <p:cNvSpPr/>
          <p:nvPr/>
        </p:nvSpPr>
        <p:spPr>
          <a:xfrm>
            <a:off x="9750000" y="3110240"/>
            <a:ext cx="7620000" cy="113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5"/>
          <p:cNvSpPr txBox="1"/>
          <p:nvPr/>
        </p:nvSpPr>
        <p:spPr>
          <a:xfrm>
            <a:off x="9950000" y="3160240"/>
            <a:ext cx="72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출발지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9950000" y="3450240"/>
            <a:ext cx="722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10.3.20.2(SW-1)와 10.3.10.2가 번갈아 전송, 두 스위치가 서로 광고를 되받는 형태</a:t>
            </a:r>
            <a:endParaRPr lang="en-US" sz="2100" dirty="0"/>
          </a:p>
        </p:txBody>
      </p:sp>
      <p:sp>
        <p:nvSpPr>
          <p:cNvPr id="12" name="card-0"/>
          <p:cNvSpPr/>
          <p:nvPr/>
        </p:nvSpPr>
        <p:spPr>
          <a:xfrm>
            <a:off x="9750000" y="4300240"/>
            <a:ext cx="7620000" cy="113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5"/>
          <p:cNvSpPr txBox="1"/>
          <p:nvPr/>
        </p:nvSpPr>
        <p:spPr>
          <a:xfrm>
            <a:off x="9950000" y="4350240"/>
            <a:ext cx="72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목적지</a:t>
            </a:r>
            <a:endParaRPr lang="en-US" sz="1800" dirty="0"/>
          </a:p>
        </p:txBody>
      </p:sp>
      <p:sp>
        <p:nvSpPr>
          <p:cNvPr id="14" name="Text 6"/>
          <p:cNvSpPr txBox="1"/>
          <p:nvPr/>
        </p:nvSpPr>
        <p:spPr>
          <a:xfrm>
            <a:off x="9950000" y="4640240"/>
            <a:ext cx="722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224.0.0.18(VRRP 멀티캐스트), 루프에서 같은 프레임이 계속 돌며 복제</a:t>
            </a:r>
            <a:endParaRPr lang="en-US" sz="2100" dirty="0"/>
          </a:p>
        </p:txBody>
      </p:sp>
      <p:sp>
        <p:nvSpPr>
          <p:cNvPr id="15" name="card-0"/>
          <p:cNvSpPr/>
          <p:nvPr/>
        </p:nvSpPr>
        <p:spPr>
          <a:xfrm>
            <a:off x="9750000" y="5490240"/>
            <a:ext cx="7620000" cy="113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5"/>
          <p:cNvSpPr txBox="1"/>
          <p:nvPr/>
        </p:nvSpPr>
        <p:spPr>
          <a:xfrm>
            <a:off x="9950000" y="5540240"/>
            <a:ext cx="72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Info</a:t>
            </a:r>
            <a:endParaRPr lang="en-US" sz="1800" dirty="0"/>
          </a:p>
        </p:txBody>
      </p:sp>
      <p:sp>
        <p:nvSpPr>
          <p:cNvPr id="17" name="Text 6"/>
          <p:cNvSpPr txBox="1"/>
          <p:nvPr/>
        </p:nvSpPr>
        <p:spPr>
          <a:xfrm>
            <a:off x="9950000" y="5830240"/>
            <a:ext cx="722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Announcement(v2) 반복, 광고 외 다른 프로토콜 없음</a:t>
            </a:r>
            <a:endParaRPr lang="en-US" sz="2100" dirty="0"/>
          </a:p>
        </p:txBody>
      </p:sp>
      <p:sp>
        <p:nvSpPr>
          <p:cNvPr id="18" name="card-0"/>
          <p:cNvSpPr/>
          <p:nvPr/>
        </p:nvSpPr>
        <p:spPr>
          <a:xfrm>
            <a:off x="9750000" y="6680240"/>
            <a:ext cx="7620000" cy="113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5"/>
          <p:cNvSpPr txBox="1"/>
          <p:nvPr/>
        </p:nvSpPr>
        <p:spPr>
          <a:xfrm>
            <a:off x="9950000" y="6730240"/>
            <a:ext cx="72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VLAN 20</a:t>
            </a:r>
            <a:endParaRPr lang="en-US" sz="1800" dirty="0"/>
          </a:p>
        </p:txBody>
      </p:sp>
      <p:sp>
        <p:nvSpPr>
          <p:cNvPr id="20" name="Text 6"/>
          <p:cNvSpPr txBox="1"/>
          <p:nvPr/>
        </p:nvSpPr>
        <p:spPr>
          <a:xfrm>
            <a:off x="9950000" y="7020240"/>
            <a:ext cx="722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802.1Q ID 20 프레임, VRRP 그룹 20의 광고가 폭주</a:t>
            </a:r>
            <a:endParaRPr lang="en-US" sz="2100" dirty="0"/>
          </a:p>
        </p:txBody>
      </p:sp>
      <p:sp>
        <p:nvSpPr>
          <p:cNvPr id="21" name="card-0"/>
          <p:cNvSpPr/>
          <p:nvPr/>
        </p:nvSpPr>
        <p:spPr>
          <a:xfrm>
            <a:off x="9750000" y="7870240"/>
            <a:ext cx="7620000" cy="113000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5"/>
          <p:cNvSpPr txBox="1"/>
          <p:nvPr/>
        </p:nvSpPr>
        <p:spPr>
          <a:xfrm>
            <a:off x="9950000" y="7920240"/>
            <a:ext cx="72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비율</a:t>
            </a:r>
            <a:endParaRPr lang="en-US" sz="1800" dirty="0"/>
          </a:p>
        </p:txBody>
      </p:sp>
      <p:sp>
        <p:nvSpPr>
          <p:cNvPr id="23" name="Text 6"/>
          <p:cNvSpPr txBox="1"/>
          <p:nvPr/>
        </p:nvSpPr>
        <p:spPr>
          <a:xfrm>
            <a:off x="9950000" y="8210240"/>
            <a:ext cx="722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 501개 중 500개(99.8%)가 VRRP, 링크가 광고로 포화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99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04 트러블슈팅</a:t>
            </a:r>
          </a:p>
        </p:txBody>
      </p:sp>
      <p:pic>
        <p:nvPicPr>
          <p:cNvPr id="29" name="Picture 28" descr="loop99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8500000" cy="3825000"/>
          </a:xfrm>
          <a:prstGeom prst="rect">
            <a:avLst/>
          </a:prstGeom>
        </p:spPr>
      </p:pic>
      <p:sp>
        <p:nvSpPr>
          <p:cNvPr id="30" name="hl-box-1"/>
          <p:cNvSpPr/>
          <p:nvPr/>
        </p:nvSpPr>
        <p:spPr>
          <a:xfrm>
            <a:off x="1230278" y="2109766"/>
            <a:ext cx="1119931" cy="2538513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hl-tag-1"/>
          <p:cNvSpPr/>
          <p:nvPr/>
        </p:nvSpPr>
        <p:spPr>
          <a:xfrm>
            <a:off x="1230278" y="1685134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2" name="hl-box-2"/>
          <p:cNvSpPr/>
          <p:nvPr/>
        </p:nvSpPr>
        <p:spPr>
          <a:xfrm>
            <a:off x="2378926" y="2109766"/>
            <a:ext cx="832769" cy="2538513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hl-tag-2"/>
          <p:cNvSpPr/>
          <p:nvPr/>
        </p:nvSpPr>
        <p:spPr>
          <a:xfrm>
            <a:off x="2378926" y="1685134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hl-box-3"/>
          <p:cNvSpPr/>
          <p:nvPr/>
        </p:nvSpPr>
        <p:spPr>
          <a:xfrm>
            <a:off x="3699872" y="2109766"/>
            <a:ext cx="804053" cy="2538513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hl-tag-3"/>
          <p:cNvSpPr/>
          <p:nvPr/>
        </p:nvSpPr>
        <p:spPr>
          <a:xfrm>
            <a:off x="3699872" y="1685134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6" name="hl-box-4"/>
          <p:cNvSpPr/>
          <p:nvPr/>
        </p:nvSpPr>
        <p:spPr>
          <a:xfrm>
            <a:off x="7892439" y="2109766"/>
            <a:ext cx="1349661" cy="2538513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hl-tag-4"/>
          <p:cNvSpPr/>
          <p:nvPr/>
        </p:nvSpPr>
        <p:spPr>
          <a:xfrm>
            <a:off x="7892439" y="1685134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8" name="hl-box-5"/>
          <p:cNvSpPr/>
          <p:nvPr/>
        </p:nvSpPr>
        <p:spPr>
          <a:xfrm>
            <a:off x="914400" y="5027334"/>
            <a:ext cx="4135134" cy="114864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hl-tag-5"/>
          <p:cNvSpPr/>
          <p:nvPr/>
        </p:nvSpPr>
        <p:spPr>
          <a:xfrm>
            <a:off x="652166" y="5027334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40" name="hl-box-6"/>
          <p:cNvSpPr/>
          <p:nvPr/>
        </p:nvSpPr>
        <p:spPr>
          <a:xfrm>
            <a:off x="914400" y="5526996"/>
            <a:ext cx="2412161" cy="218242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hl-tag-6"/>
          <p:cNvSpPr/>
          <p:nvPr/>
        </p:nvSpPr>
        <p:spPr>
          <a:xfrm>
            <a:off x="652166" y="5526996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BR1 L2 루프: SW-3 포트 차단과 STP 재시작으로 해결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image-frame"/>
          <p:cNvSpPr/>
          <p:nvPr/>
        </p:nvSpPr>
        <p:spPr>
          <a:xfrm>
            <a:off x="914400" y="1920240"/>
            <a:ext cx="9400000" cy="41601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14400" y="6130375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폭주 해소 후 Wireshark(vrrp), 1: Time 광고 간격 약 1초, 2: Source SW-1(10.3.20.2), SW-2(10.3.10.3) 각 1개씩 전송</a:t>
            </a:r>
            <a:endParaRPr lang="en-US" sz="1800" dirty="0"/>
          </a:p>
        </p:txBody>
      </p:sp>
      <p:sp>
        <p:nvSpPr>
          <p:cNvPr id="7" name="card-0"/>
          <p:cNvSpPr/>
          <p:nvPr/>
        </p:nvSpPr>
        <p:spPr>
          <a:xfrm>
            <a:off x="10698480" y="1920240"/>
            <a:ext cx="6675120" cy="19202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11018520" y="2103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조치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018520" y="256032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SW-3 1/1/1 shutdown, no spanning-tree 후 spanning-tree로 재시작</a:t>
            </a:r>
            <a:endParaRPr lang="en-US" sz="2100" dirty="0"/>
          </a:p>
        </p:txBody>
      </p:sp>
      <p:sp>
        <p:nvSpPr>
          <p:cNvPr id="10" name="card-1"/>
          <p:cNvSpPr/>
          <p:nvPr/>
        </p:nvSpPr>
        <p:spPr>
          <a:xfrm>
            <a:off x="10698480" y="4114800"/>
            <a:ext cx="6675120" cy="19202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11018520" y="4297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3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조치 결과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018520" y="475488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SW-3의 SW-1 루트 인식, SW-2 1/1/5의 Alternate/Blocking 전환</a:t>
            </a:r>
            <a:endParaRPr lang="en-US" sz="2100" dirty="0"/>
          </a:p>
        </p:txBody>
      </p:sp>
      <p:sp>
        <p:nvSpPr>
          <p:cNvPr id="13" name="card-2"/>
          <p:cNvSpPr/>
          <p:nvPr/>
        </p:nvSpPr>
        <p:spPr>
          <a:xfrm>
            <a:off x="10698480" y="6309360"/>
            <a:ext cx="6675120" cy="1920240"/>
          </a:xfrm>
          <a:prstGeom prst="rect">
            <a:avLst/>
          </a:prstGeom>
          <a:solidFill>
            <a:srgbClr val="F7F7F7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1018520" y="6492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미확인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018520" y="694944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B45309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폭주 최초 발생 원인 미확인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100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28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04 트러블슈팅</a:t>
            </a:r>
          </a:p>
        </p:txBody>
      </p:sp>
      <p:pic>
        <p:nvPicPr>
          <p:cNvPr id="29" name="Picture 28" descr="loop100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9400000" cy="4160135"/>
          </a:xfrm>
          <a:prstGeom prst="rect">
            <a:avLst/>
          </a:prstGeom>
        </p:spPr>
      </p:pic>
      <p:sp>
        <p:nvSpPr>
          <p:cNvPr id="30" name="hl-box-1"/>
          <p:cNvSpPr/>
          <p:nvPr/>
        </p:nvSpPr>
        <p:spPr>
          <a:xfrm>
            <a:off x="1613048" y="2136185"/>
            <a:ext cx="1016216" cy="2781891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hl-tag-1"/>
          <p:cNvSpPr/>
          <p:nvPr/>
        </p:nvSpPr>
        <p:spPr>
          <a:xfrm>
            <a:off x="1613048" y="1660240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2" name="hl-box-2"/>
          <p:cNvSpPr/>
          <p:nvPr/>
        </p:nvSpPr>
        <p:spPr>
          <a:xfrm>
            <a:off x="2661021" y="2136185"/>
            <a:ext cx="857432" cy="2781891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hl-tag-2"/>
          <p:cNvSpPr/>
          <p:nvPr/>
        </p:nvSpPr>
        <p:spPr>
          <a:xfrm>
            <a:off x="2661021" y="1660240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hl-box-3"/>
          <p:cNvSpPr/>
          <p:nvPr/>
        </p:nvSpPr>
        <p:spPr>
          <a:xfrm>
            <a:off x="914400" y="5184834"/>
            <a:ext cx="4572972" cy="127027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hl-tag-3"/>
          <p:cNvSpPr/>
          <p:nvPr/>
        </p:nvSpPr>
        <p:spPr>
          <a:xfrm>
            <a:off x="624400" y="5184834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6" name="hl-box-4"/>
          <p:cNvSpPr/>
          <p:nvPr/>
        </p:nvSpPr>
        <p:spPr>
          <a:xfrm>
            <a:off x="914400" y="5877131"/>
            <a:ext cx="2667567" cy="203243"/>
          </a:xfrm>
          <a:prstGeom prst="rect">
            <a:avLst/>
          </a:prstGeom>
          <a:noFill/>
          <a:ln w="285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hl-tag-4"/>
          <p:cNvSpPr/>
          <p:nvPr/>
        </p:nvSpPr>
        <p:spPr>
          <a:xfrm>
            <a:off x="624400" y="5877131"/>
            <a:ext cx="230000" cy="230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914400" y="29260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024AD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38912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한계와 정리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66928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과제</a:t>
            </a:r>
            <a:endParaRPr lang="en-US" sz="27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101</a:t>
            </a:fld>
            <a:endParaRPr lang="en-US" sz="1000"/>
          </a:p>
        </p:txBody>
      </p:sp>
      <p:cxnSp>
        <p:nvCxnSpPr>
          <p:cNvPr id="26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프로젝트 제한 사항과 향후 과제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1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16459200" cy="6949440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항목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상태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사유와 향후 과제</a:t>
                      </a:r>
                      <a:endParaRPr lang="en-US" sz="1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EtherChannel 멤버 전체 다운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B4530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향후 과제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벤더별 핵심 기능 대표 시험으로 범위 설정, 향후 멤버 전체 다운 시험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새 Spoke 쌍 장애(BR2와 BR1)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B4530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향후 과제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시험으로 대체, 향후 BR2-BR1 쌍 장애 시험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Hub 이중화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DC-R1 백업 Hub 추가, 전환 확인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B4530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DC-R2 Tunnel0 shutdown 시 DC-R1 경유 전환 확인, DC-R1 단독 장애와 두 Hub 동시 장애는 향후 시험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BR1 루프 근본 원인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B4530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미확인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STP 재시작으로 조치 완료, 향후 루트 브릿지 우선순위와 패킷 분석으로 원인 확인 예정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사이트별 반복 시험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벤더별 대표 시험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HQ Cisco, DC Arista, BR1 Aruba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Cisco VRRP 전환 시간 측정</a:t>
                      </a:r>
                      <a:endParaRPr lang="en-US" sz="21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 로그 기준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rgbClr val="3D3D3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Wireshark 광고 공백 교차 확인과 두 장비 시계 일치 확인은 향후 보완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102</a:t>
            </a:fld>
            <a:endParaRPr lang="en-US" sz="1000"/>
          </a:p>
        </p:txBody>
      </p:sp>
      <p:cxnSp>
        <p:nvCxnSpPr>
          <p:cNvPr id="111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113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05 한계와 정리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54864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프로젝트 일정과 Jira 현황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93268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459200" y="9650000"/>
            <a:ext cx="914400" cy="26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sz="1000" b="0"/>
              <a:t>103</a:t>
            </a:fld>
            <a:endParaRPr lang="en-US" sz="1000"/>
          </a:p>
        </p:txBody>
      </p:sp>
      <p:sp>
        <p:nvSpPr>
          <p:cNvPr id="27" name="TextBox 26"/>
          <p:cNvSpPr txBox="1"/>
          <p:nvPr/>
        </p:nvSpPr>
        <p:spPr>
          <a:xfrm>
            <a:off x="914400" y="8560056"/>
            <a:ext cx="164592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Pretendard"/>
              </a:rPr>
              <a:t>Jira 작업 34개(2026-10-20 기준), 구성과 검증은 실제 완료일(10/12 ~ 10/18), PPT(KAN-32) 기한 10/23</a:t>
            </a:r>
          </a:p>
        </p:txBody>
      </p:sp>
      <p:cxnSp>
        <p:nvCxnSpPr>
          <p:cNvPr id="28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30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05 한계와 정리</a:t>
            </a:r>
          </a:p>
        </p:txBody>
      </p:sp>
      <p:pic>
        <p:nvPicPr>
          <p:cNvPr id="31" name="Picture 30" descr="jira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00000"/>
            <a:ext cx="16459200" cy="6820056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28016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정리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사이트와 2개 ISP의 DMVPN 연결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977640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VRRP, EtherChannel, ISP-1 장애, DMVPN Hub 장애의 실측 검증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212080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벤더별 상이한 동작의 직접 확인과 설계 변경(ACL 위치, QoS 분류)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과제: 채널 멤버 전체 다운, BR2와 Spoke 쌍 장애 시험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822960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감사합니다 · github.com/ksnam97/network-project</a:t>
            </a:r>
            <a:endParaRPr lang="en-US" sz="3200" dirty="0"/>
          </a:p>
        </p:txBody>
      </p:sp>
      <p:cxnSp>
        <p:nvCxnSpPr>
          <p:cNvPr id="8" name="footer-rule"/>
          <p:cNvCxnSpPr/>
          <p:nvPr/>
        </p:nvCxnSpPr>
        <p:spPr>
          <a:xfrm>
            <a:off x="914400" y="9560000"/>
            <a:ext cx="164592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-deck"/>
          <p:cNvSpPr txBox="1"/>
          <p:nvPr/>
        </p:nvSpPr>
        <p:spPr>
          <a:xfrm>
            <a:off x="914400" y="965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636363"/>
                </a:solidFill>
                <a:latin typeface="Pretendard"/>
              </a:rPr>
              <a:t>멀티벤더 하이브리드 네트워크 구축</a:t>
            </a:r>
          </a:p>
        </p:txBody>
      </p:sp>
      <p:sp>
        <p:nvSpPr>
          <p:cNvPr id="10" name="eyebrow"/>
          <p:cNvSpPr txBox="1"/>
          <p:nvPr/>
        </p:nvSpPr>
        <p:spPr>
          <a:xfrm>
            <a:off x="914400" y="190000"/>
            <a:ext cx="164592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636363"/>
                </a:solidFill>
                <a:latin typeface="Pretendard"/>
              </a:rPr>
              <a:t>05 한계와 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7857</Words>
  <Application>Microsoft Office PowerPoint</Application>
  <PresentationFormat>사용자 지정</PresentationFormat>
  <Paragraphs>1690</Paragraphs>
  <Slides>104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104</vt:i4>
      </vt:variant>
    </vt:vector>
  </HeadingPairs>
  <TitlesOfParts>
    <vt:vector size="110" baseType="lpstr">
      <vt:lpstr>Pretendard</vt:lpstr>
      <vt:lpstr>Pretendard Medium</vt:lpstr>
      <vt:lpstr>맑은 고딕</vt:lpstr>
      <vt:lpstr>Arial</vt:lpstr>
      <vt:lpstr>Calibri</vt:lpstr>
      <vt:lpstr>Office Theme</vt:lpstr>
      <vt:lpstr>PowerPoint 프레젠테이션</vt:lpstr>
      <vt:lpstr>목차</vt:lpstr>
      <vt:lpstr>PowerPoint 프레젠테이션</vt:lpstr>
      <vt:lpstr>4개 사이트의 ISP 이중화와 DMVPN 연결</vt:lpstr>
      <vt:lpstr>전체 토폴로지</vt:lpstr>
      <vt:lpstr>HQ 토폴로지</vt:lpstr>
      <vt:lpstr>DC 토폴로지</vt:lpstr>
      <vt:lpstr>BR1 토폴로지</vt:lpstr>
      <vt:lpstr>BR2 토폴로지</vt:lpstr>
      <vt:lpstr>벤더 혼합 구성</vt:lpstr>
      <vt:lpstr>기술 스택 및 도입 목적</vt:lpstr>
      <vt:lpstr>PowerPoint 프레젠테이션</vt:lpstr>
      <vt:lpstr>ISP-1 장애 지점</vt:lpstr>
      <vt:lpstr>ISP 이중화 도입 목적</vt:lpstr>
      <vt:lpstr>ISP-1 단절 시 ISP-2 전환 원리</vt:lpstr>
      <vt:lpstr>검증: hold-time 9초 경과 후 세션 종료</vt:lpstr>
      <vt:lpstr>검증: BGP 기본 경로의 OSPF 경로 전환</vt:lpstr>
      <vt:lpstr>검증 결과: ISP-1 장애 시험 5개 항목 통과</vt:lpstr>
      <vt:lpstr>검증: HQ OSPF Hello</vt:lpstr>
      <vt:lpstr>검증: eBGP OPEN</vt:lpstr>
      <vt:lpstr>DMVPN Phase 3 도입 목적</vt:lpstr>
      <vt:lpstr>DMVPN 구성: Hub, 백업 Hub와 Spoke의 터널 주소</vt:lpstr>
      <vt:lpstr>DMVPN Hub 장애 지점</vt:lpstr>
      <vt:lpstr>검증: Hub 장애 후 105초 만에 터널 복구</vt:lpstr>
      <vt:lpstr>검증: shortcut ESP는 약 44초 유지</vt:lpstr>
      <vt:lpstr>검증: 설계와 달랐던 점, shortcut의 44초 후 중단</vt:lpstr>
      <vt:lpstr>검증: Hub 장애 전 traceroute는 터널 경유 5홉</vt:lpstr>
      <vt:lpstr>검증: Hub 장애 후 traceroute는 ISP 경유 8홉</vt:lpstr>
      <vt:lpstr>Hub 이중화: DC-R1 백업 Hub 구성</vt:lpstr>
      <vt:lpstr>검증: Hub 장애 시 DC-R1 경유로 전환</vt:lpstr>
      <vt:lpstr>검증: 전환 중 ping 손실 6개, 복구 후 DC-R2 경유</vt:lpstr>
      <vt:lpstr>MPLS L3VPN 도입 목적</vt:lpstr>
      <vt:lpstr>검증: 2중 MPLS 레이블 스택</vt:lpstr>
      <vt:lpstr>검증: ISP-1 코어의 MPLS LSP traceroute</vt:lpstr>
      <vt:lpstr>검증: LDP Label Mapping</vt:lpstr>
      <vt:lpstr>상세: LDP Hello(링크 Hello)</vt:lpstr>
      <vt:lpstr>상세: LDP Keep Alive</vt:lpstr>
      <vt:lpstr>상세: LDP Address Message(P1의 주소 4개)</vt:lpstr>
      <vt:lpstr>상세: LDP Label Mapping 펼침(레이블 12004)</vt:lpstr>
      <vt:lpstr>상세: LDP Label Mapping 양방향(프레임 316, 317)</vt:lpstr>
      <vt:lpstr>터미널: ISP-1-PE-A LDP 이웃</vt:lpstr>
      <vt:lpstr>터미널: ISP-1-PE-A MPLS 전달 테이블(12004)</vt:lpstr>
      <vt:lpstr>검증: iBGP vpnv4 UPDATE(PE-A → P1)</vt:lpstr>
      <vt:lpstr>QoS 클래스와 정책 구조</vt:lpstr>
      <vt:lpstr>QoS 분류 방식: DSCP 매치에서 ACL로 변경</vt:lpstr>
      <vt:lpstr>검증: 병목 시 class-default만 drop</vt:lpstr>
      <vt:lpstr>검증: 병목 시 drop 카운터와 DNS 응답</vt:lpstr>
      <vt:lpstr>DNS ACL 적용 위치: 스위치에서 라우터로 변경</vt:lpstr>
      <vt:lpstr>Private Internet whitelist 도입 목적</vt:lpstr>
      <vt:lpstr>터미널: Private-net deny 로그</vt:lpstr>
      <vt:lpstr>터미널: Private-net whitelist ACL</vt:lpstr>
      <vt:lpstr>터미널: DC-R2 DMVPN(ACL 적용 후)</vt:lpstr>
      <vt:lpstr>PowerPoint 프레젠테이션</vt:lpstr>
      <vt:lpstr>벤더별 동작 차이</vt:lpstr>
      <vt:lpstr>PowerPoint 프레젠테이션</vt:lpstr>
      <vt:lpstr>Cisco-VRRP: 도입 목적(HQ)</vt:lpstr>
      <vt:lpstr>Cisco-VRRP: 장애 지점(HQ-SW-2 ↔ HQ-SW-3)</vt:lpstr>
      <vt:lpstr>Cisco-VRRP: show vrrp brief 상태 변화</vt:lpstr>
      <vt:lpstr>Cisco-VRRP: 장비 로그와 ping(전환 약 0.19초)</vt:lpstr>
      <vt:lpstr>Cisco-MSTP: 도입 목적과 설정(HQ)</vt:lpstr>
      <vt:lpstr>Cisco-EtherChannel: show etherchannel summary(HQ-SW-2)</vt:lpstr>
      <vt:lpstr>Cisco-요약: HQ, BR2의 이중화와 서비스 동작</vt:lpstr>
      <vt:lpstr>PowerPoint 프레젠테이션</vt:lpstr>
      <vt:lpstr>Arista-VRRP: 도입 목적(DC)</vt:lpstr>
      <vt:lpstr>Arista-VRRP: 장애 지점(DC-SW3-L3)</vt:lpstr>
      <vt:lpstr>Arista-VRRP: show vrrp brief 시험 전과 shutdown 후</vt:lpstr>
      <vt:lpstr>Arista-VRRP: 광고 공백 약 3.2초</vt:lpstr>
      <vt:lpstr>Arista-MSTP: 도입 목적과 설정(DC)</vt:lpstr>
      <vt:lpstr>Arista-MSTP: DC MST BPDU</vt:lpstr>
      <vt:lpstr>Arista-MLAG: 링크 다운 지점</vt:lpstr>
      <vt:lpstr>Arista-MLAG: 도입 목적</vt:lpstr>
      <vt:lpstr>Arista-MLAG: show mlag detail</vt:lpstr>
      <vt:lpstr>Arista-MLAG: 피어링 VLAN 4094와 TCP, UDP 4432</vt:lpstr>
      <vt:lpstr>Arista-MLAG: 두 스위치의 동일 System ID 광고</vt:lpstr>
      <vt:lpstr>Arista-요약: DC의 MLAG와 VRRP</vt:lpstr>
      <vt:lpstr>PowerPoint 프레젠테이션</vt:lpstr>
      <vt:lpstr>Aruba-VRRP: 도입 목적(BR1)</vt:lpstr>
      <vt:lpstr>Aruba-VRRP: 장애 지점(BR1-SW1-L3)</vt:lpstr>
      <vt:lpstr>Aruba-VRRP: show vrrp brief 상태 변화</vt:lpstr>
      <vt:lpstr>Aruba-VRRP: 광고 공백 약 4.0초</vt:lpstr>
      <vt:lpstr>Aruba-MSTP: 도입 목적과 설정(BR1)</vt:lpstr>
      <vt:lpstr>Aruba-VLAN: 도입 목적과 트렁크(BR1)</vt:lpstr>
      <vt:lpstr>Aruba-VLAN: 트렁크의 802.1Q 태그</vt:lpstr>
      <vt:lpstr>Aruba-VLAN: 호스트 링크에는 802.1Q 태그가 없음</vt:lpstr>
      <vt:lpstr>Aruba-LAG: show lacp aggregates</vt:lpstr>
      <vt:lpstr>Aruba-LAG: show lacp interfaces(복구 후)</vt:lpstr>
      <vt:lpstr>Aruba-DHCP: 도입 목적(BR1)</vt:lpstr>
      <vt:lpstr>Aruba-DHCP: VIP 출발지 포함 Offer 3개</vt:lpstr>
      <vt:lpstr>Aruba-DNS: 질의와 응답(BR1-PC1)</vt:lpstr>
      <vt:lpstr>Aruba-요약: BR1의 VRRP, LAG, DHCP</vt:lpstr>
      <vt:lpstr>PowerPoint 프레젠테이션</vt:lpstr>
      <vt:lpstr>비교: 벤더별 VRRP 전환 시간</vt:lpstr>
      <vt:lpstr>비교: MST 3벤더</vt:lpstr>
      <vt:lpstr>비교: EtherChannel과 MLAG 차이</vt:lpstr>
      <vt:lpstr>비교: 링크 다운 영향의 벤더별 차이</vt:lpstr>
      <vt:lpstr>PowerPoint 프레젠테이션</vt:lpstr>
      <vt:lpstr>설계와 달랐던 10건</vt:lpstr>
      <vt:lpstr>router-id: 프로세스와 무관한 장비 내 유일성</vt:lpstr>
      <vt:lpstr>BR1 L2 루프: VRRP 광고 초당 약 190개</vt:lpstr>
      <vt:lpstr>BR1 L2 루프: SW-3 포트 차단과 STP 재시작으로 해결</vt:lpstr>
      <vt:lpstr>PowerPoint 프레젠테이션</vt:lpstr>
      <vt:lpstr>미확인 항목과 한계</vt:lpstr>
      <vt:lpstr>프로젝트 일정과 Jira 현황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멀티벤더 하이브리드 네트워크 구축</dc:title>
  <dc:subject>PptxGenJS Presentation</dc:subject>
  <dc:creator>PptxGenJS</dc:creator>
  <cp:lastModifiedBy>기석 남</cp:lastModifiedBy>
  <cp:revision>3</cp:revision>
  <dcterms:created xsi:type="dcterms:W3CDTF">2026-10-19T01:19:49Z</dcterms:created>
  <dcterms:modified xsi:type="dcterms:W3CDTF">2026-10-19T11:37:57Z</dcterms:modified>
</cp:coreProperties>
</file>